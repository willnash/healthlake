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7573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640080" y="201168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Clinical Registries on Amazon HealthLake</a:t>
            </a:r>
            <a:endParaRPr lang="en-US" sz="4400" dirty="0"/>
          </a:p>
        </p:txBody>
      </p:sp>
      <p:sp>
        <p:nvSpPr>
          <p:cNvPr id="3" name="Text 1"/>
          <p:cNvSpPr txBox="1"/>
          <p:nvPr/>
        </p:nvSpPr>
        <p:spPr>
          <a:xfrm>
            <a:off x="640080" y="3017520"/>
            <a:ext cx="10515600" cy="548640"/>
          </a:xfrm>
          <a:prstGeom prst="rect">
            <a:avLst/>
          </a:prstGeom>
          <a:noFill/>
          <a:ln/>
        </p:spPr>
        <p:txBody>
          <a:bodyPr wrap="square" lIns="0" tIns="0" rIns="0" bIns="0" rtlCol="0" anchor="ctr"/>
          <a:lstStyle/>
          <a:p>
            <a:pPr marL="0" indent="0">
              <a:buNone/>
            </a:pPr>
            <a:r>
              <a:rPr lang="en-US" sz="2200" dirty="0">
                <a:solidFill>
                  <a:srgbClr val="DCE9F5"/>
                </a:solidFill>
                <a:latin typeface="Calibri" pitchFamily="34" charset="0"/>
                <a:ea typeface="Calibri" pitchFamily="34" charset="-122"/>
                <a:cs typeface="Calibri" pitchFamily="34" charset="-120"/>
              </a:rPr>
              <a:t>Migrating REDCap registers onto Health New Zealand's FHIR data foundation</a:t>
            </a:r>
            <a:endParaRPr lang="en-US" sz="2200" dirty="0"/>
          </a:p>
        </p:txBody>
      </p:sp>
      <p:sp>
        <p:nvSpPr>
          <p:cNvPr id="4" name="Text 2"/>
          <p:cNvSpPr txBox="1"/>
          <p:nvPr/>
        </p:nvSpPr>
        <p:spPr>
          <a:xfrm>
            <a:off x="640080" y="4023360"/>
            <a:ext cx="10515600" cy="365760"/>
          </a:xfrm>
          <a:prstGeom prst="rect">
            <a:avLst/>
          </a:prstGeom>
          <a:noFill/>
          <a:ln/>
        </p:spPr>
        <p:txBody>
          <a:bodyPr wrap="square" lIns="0" tIns="0" rIns="0" bIns="0" rtlCol="0" anchor="ctr"/>
          <a:lstStyle/>
          <a:p>
            <a:pPr marL="0" indent="0">
              <a:buNone/>
            </a:pPr>
            <a:r>
              <a:rPr lang="en-US" sz="1600" dirty="0">
                <a:solidFill>
                  <a:srgbClr val="A9C4E0"/>
                </a:solidFill>
                <a:latin typeface="Calibri" pitchFamily="34" charset="0"/>
                <a:ea typeface="Calibri" pitchFamily="34" charset="-122"/>
                <a:cs typeface="Calibri" pitchFamily="34" charset="-120"/>
              </a:rPr>
              <a:t>Opportunity brief for the AWS and HealthX proof of concept</a:t>
            </a:r>
            <a:endParaRPr lang="en-US" sz="1600" dirty="0"/>
          </a:p>
        </p:txBody>
      </p:sp>
      <p:sp>
        <p:nvSpPr>
          <p:cNvPr id="5" name="Text 3"/>
          <p:cNvSpPr txBox="1"/>
          <p:nvPr/>
        </p:nvSpPr>
        <p:spPr>
          <a:xfrm>
            <a:off x="640080" y="5852160"/>
            <a:ext cx="10515600" cy="365760"/>
          </a:xfrm>
          <a:prstGeom prst="rect">
            <a:avLst/>
          </a:prstGeom>
          <a:noFill/>
          <a:ln/>
        </p:spPr>
        <p:txBody>
          <a:bodyPr wrap="square" lIns="0" tIns="0" rIns="0" bIns="0" rtlCol="0" anchor="ctr"/>
          <a:lstStyle/>
          <a:p>
            <a:pPr marL="0" indent="0">
              <a:buNone/>
            </a:pPr>
            <a:r>
              <a:rPr lang="en-US" sz="1400" dirty="0">
                <a:solidFill>
                  <a:srgbClr val="A9C4E0"/>
                </a:solidFill>
                <a:latin typeface="Calibri" pitchFamily="34" charset="0"/>
                <a:ea typeface="Calibri" pitchFamily="34" charset="-122"/>
                <a:cs typeface="Calibri" pitchFamily="34" charset="-120"/>
              </a:rPr>
              <a:t>Koan Limited  |  28 September 2026  |  Draft v0.1</a:t>
            </a:r>
            <a:endParaRPr lang="en-US" sz="1400" dirty="0"/>
          </a:p>
        </p:txBody>
      </p:sp>
      <p:sp>
        <p:nvSpPr>
          <p:cNvPr id="6" name="Text 4"/>
          <p:cNvSpPr txBox="1"/>
          <p:nvPr/>
        </p:nvSpPr>
        <p:spPr>
          <a:xfrm>
            <a:off x="10332720" y="457200"/>
            <a:ext cx="1371600" cy="457200"/>
          </a:xfrm>
          <a:prstGeom prst="rect">
            <a:avLst/>
          </a:prstGeom>
          <a:noFill/>
          <a:ln/>
        </p:spPr>
        <p:txBody>
          <a:bodyPr wrap="square" lIns="0" tIns="0" rIns="0" bIns="0" rtlCol="0" anchor="ctr"/>
          <a:lstStyle/>
          <a:p>
            <a:pPr marL="0" indent="0" algn="r">
              <a:buNone/>
            </a:pPr>
            <a:r>
              <a:rPr lang="en-US" sz="2400" b="1" dirty="0">
                <a:solidFill>
                  <a:srgbClr val="FFFFFF"/>
                </a:solidFill>
                <a:latin typeface="Calibri" pitchFamily="34" charset="0"/>
                <a:ea typeface="Calibri" pitchFamily="34" charset="-122"/>
                <a:cs typeface="Calibri" pitchFamily="34" charset="-120"/>
              </a:rPr>
              <a:t>Koan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The opportunity in one slide</a:t>
            </a:r>
            <a:endParaRPr lang="en-US" sz="3000" dirty="0"/>
          </a:p>
        </p:txBody>
      </p:sp>
      <p:sp>
        <p:nvSpPr>
          <p:cNvPr id="3" name="Shape 1"/>
          <p:cNvSpPr/>
          <p:nvPr/>
        </p:nvSpPr>
        <p:spPr>
          <a:xfrm>
            <a:off x="457200" y="1463040"/>
            <a:ext cx="2651760" cy="1920240"/>
          </a:xfrm>
          <a:prstGeom prst="roundRect">
            <a:avLst>
              <a:gd name="adj" fmla="val 3810"/>
            </a:avLst>
          </a:prstGeom>
          <a:solidFill>
            <a:srgbClr val="EAF1F8"/>
          </a:solidFill>
          <a:ln w="12700">
            <a:solidFill>
              <a:srgbClr val="EAF1F8"/>
            </a:solidFill>
            <a:prstDash val="solid"/>
          </a:ln>
        </p:spPr>
        <p:txBody>
          <a:bodyPr/>
          <a:lstStyle/>
          <a:p>
            <a:endParaRPr lang="en-NZ"/>
          </a:p>
        </p:txBody>
      </p:sp>
      <p:sp>
        <p:nvSpPr>
          <p:cNvPr id="4" name="Text 2"/>
          <p:cNvSpPr txBox="1"/>
          <p:nvPr/>
        </p:nvSpPr>
        <p:spPr>
          <a:xfrm>
            <a:off x="640080" y="1554480"/>
            <a:ext cx="2286000" cy="822960"/>
          </a:xfrm>
          <a:prstGeom prst="rect">
            <a:avLst/>
          </a:prstGeom>
          <a:noFill/>
          <a:ln/>
        </p:spPr>
        <p:txBody>
          <a:bodyPr wrap="square" lIns="0" tIns="0" rIns="0" bIns="0" rtlCol="0" anchor="ctr"/>
          <a:lstStyle/>
          <a:p>
            <a:pPr marL="0" indent="0">
              <a:buNone/>
            </a:pPr>
            <a:r>
              <a:rPr lang="en-US" sz="4000" b="1" dirty="0">
                <a:solidFill>
                  <a:srgbClr val="1F4E79"/>
                </a:solidFill>
                <a:latin typeface="Calibri" pitchFamily="34" charset="0"/>
                <a:ea typeface="Calibri" pitchFamily="34" charset="-122"/>
                <a:cs typeface="Calibri" pitchFamily="34" charset="-120"/>
              </a:rPr>
              <a:t>~50%</a:t>
            </a:r>
            <a:endParaRPr lang="en-US" sz="4000" dirty="0"/>
          </a:p>
        </p:txBody>
      </p:sp>
      <p:sp>
        <p:nvSpPr>
          <p:cNvPr id="5" name="Text 3"/>
          <p:cNvSpPr txBox="1"/>
          <p:nvPr/>
        </p:nvSpPr>
        <p:spPr>
          <a:xfrm>
            <a:off x="640080" y="2377440"/>
            <a:ext cx="2286000" cy="9144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of the health system runs on local registers outside any core platform</a:t>
            </a:r>
            <a:endParaRPr lang="en-US" sz="1300" dirty="0"/>
          </a:p>
        </p:txBody>
      </p:sp>
      <p:sp>
        <p:nvSpPr>
          <p:cNvPr id="6" name="Shape 4"/>
          <p:cNvSpPr/>
          <p:nvPr/>
        </p:nvSpPr>
        <p:spPr>
          <a:xfrm>
            <a:off x="3291840" y="1463040"/>
            <a:ext cx="2651760" cy="1920240"/>
          </a:xfrm>
          <a:prstGeom prst="roundRect">
            <a:avLst>
              <a:gd name="adj" fmla="val 3810"/>
            </a:avLst>
          </a:prstGeom>
          <a:solidFill>
            <a:srgbClr val="EAF1F8"/>
          </a:solidFill>
          <a:ln w="12700">
            <a:solidFill>
              <a:srgbClr val="EAF1F8"/>
            </a:solidFill>
            <a:prstDash val="solid"/>
          </a:ln>
        </p:spPr>
        <p:txBody>
          <a:bodyPr/>
          <a:lstStyle/>
          <a:p>
            <a:endParaRPr lang="en-NZ"/>
          </a:p>
        </p:txBody>
      </p:sp>
      <p:sp>
        <p:nvSpPr>
          <p:cNvPr id="7" name="Text 5"/>
          <p:cNvSpPr txBox="1"/>
          <p:nvPr/>
        </p:nvSpPr>
        <p:spPr>
          <a:xfrm>
            <a:off x="3474720" y="1554480"/>
            <a:ext cx="2286000" cy="822960"/>
          </a:xfrm>
          <a:prstGeom prst="rect">
            <a:avLst/>
          </a:prstGeom>
          <a:noFill/>
          <a:ln/>
        </p:spPr>
        <p:txBody>
          <a:bodyPr wrap="square" lIns="0" tIns="0" rIns="0" bIns="0" rtlCol="0" anchor="ctr"/>
          <a:lstStyle/>
          <a:p>
            <a:pPr marL="0" indent="0">
              <a:buNone/>
            </a:pPr>
            <a:r>
              <a:rPr lang="en-US" sz="4000" b="1" dirty="0">
                <a:solidFill>
                  <a:srgbClr val="1F4E79"/>
                </a:solidFill>
                <a:latin typeface="Calibri" pitchFamily="34" charset="0"/>
                <a:ea typeface="Calibri" pitchFamily="34" charset="-122"/>
                <a:cs typeface="Calibri" pitchFamily="34" charset="-120"/>
              </a:rPr>
              <a:t>700+</a:t>
            </a:r>
            <a:endParaRPr lang="en-US" sz="4000" dirty="0"/>
          </a:p>
        </p:txBody>
      </p:sp>
      <p:sp>
        <p:nvSpPr>
          <p:cNvPr id="8" name="Text 6"/>
          <p:cNvSpPr txBox="1"/>
          <p:nvPr/>
        </p:nvSpPr>
        <p:spPr>
          <a:xfrm>
            <a:off x="3474720" y="2377440"/>
            <a:ext cx="2286000" cy="9144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Access databases, hundreds of spreadsheets, tens of REDCap projects at HNZ</a:t>
            </a:r>
            <a:endParaRPr lang="en-US" sz="1300" dirty="0"/>
          </a:p>
        </p:txBody>
      </p:sp>
      <p:sp>
        <p:nvSpPr>
          <p:cNvPr id="9" name="Shape 7"/>
          <p:cNvSpPr/>
          <p:nvPr/>
        </p:nvSpPr>
        <p:spPr>
          <a:xfrm>
            <a:off x="6126480" y="1463040"/>
            <a:ext cx="2651760" cy="1920240"/>
          </a:xfrm>
          <a:prstGeom prst="roundRect">
            <a:avLst>
              <a:gd name="adj" fmla="val 3810"/>
            </a:avLst>
          </a:prstGeom>
          <a:solidFill>
            <a:srgbClr val="EAF1F8"/>
          </a:solidFill>
          <a:ln w="12700">
            <a:solidFill>
              <a:srgbClr val="EAF1F8"/>
            </a:solidFill>
            <a:prstDash val="solid"/>
          </a:ln>
        </p:spPr>
        <p:txBody>
          <a:bodyPr/>
          <a:lstStyle/>
          <a:p>
            <a:endParaRPr lang="en-NZ"/>
          </a:p>
        </p:txBody>
      </p:sp>
      <p:sp>
        <p:nvSpPr>
          <p:cNvPr id="10" name="Text 8"/>
          <p:cNvSpPr txBox="1"/>
          <p:nvPr/>
        </p:nvSpPr>
        <p:spPr>
          <a:xfrm>
            <a:off x="6309360" y="1554480"/>
            <a:ext cx="2286000" cy="822960"/>
          </a:xfrm>
          <a:prstGeom prst="rect">
            <a:avLst/>
          </a:prstGeom>
          <a:noFill/>
          <a:ln/>
        </p:spPr>
        <p:txBody>
          <a:bodyPr wrap="square" lIns="0" tIns="0" rIns="0" bIns="0" rtlCol="0" anchor="ctr"/>
          <a:lstStyle/>
          <a:p>
            <a:pPr marL="0" indent="0">
              <a:buNone/>
            </a:pPr>
            <a:r>
              <a:rPr lang="en-US" sz="4000" b="1" dirty="0">
                <a:solidFill>
                  <a:srgbClr val="1F4E79"/>
                </a:solidFill>
                <a:latin typeface="Calibri" pitchFamily="34" charset="0"/>
                <a:ea typeface="Calibri" pitchFamily="34" charset="-122"/>
                <a:cs typeface="Calibri" pitchFamily="34" charset="-120"/>
              </a:rPr>
              <a:t>5</a:t>
            </a:r>
            <a:endParaRPr lang="en-US" sz="4000" dirty="0"/>
          </a:p>
        </p:txBody>
      </p:sp>
      <p:sp>
        <p:nvSpPr>
          <p:cNvPr id="11" name="Text 9"/>
          <p:cNvSpPr txBox="1"/>
          <p:nvPr/>
        </p:nvSpPr>
        <p:spPr>
          <a:xfrm>
            <a:off x="6309360" y="2377440"/>
            <a:ext cx="2286000" cy="9144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REDCap registries to migrate in the proof of concept</a:t>
            </a:r>
            <a:endParaRPr lang="en-US" sz="1300" dirty="0"/>
          </a:p>
        </p:txBody>
      </p:sp>
      <p:sp>
        <p:nvSpPr>
          <p:cNvPr id="12" name="Shape 10"/>
          <p:cNvSpPr/>
          <p:nvPr/>
        </p:nvSpPr>
        <p:spPr>
          <a:xfrm>
            <a:off x="8961120" y="1463040"/>
            <a:ext cx="2651760" cy="1920240"/>
          </a:xfrm>
          <a:prstGeom prst="roundRect">
            <a:avLst>
              <a:gd name="adj" fmla="val 3810"/>
            </a:avLst>
          </a:prstGeom>
          <a:solidFill>
            <a:srgbClr val="EAF1F8"/>
          </a:solidFill>
          <a:ln w="12700">
            <a:solidFill>
              <a:srgbClr val="EAF1F8"/>
            </a:solidFill>
            <a:prstDash val="solid"/>
          </a:ln>
        </p:spPr>
        <p:txBody>
          <a:bodyPr/>
          <a:lstStyle/>
          <a:p>
            <a:endParaRPr lang="en-NZ"/>
          </a:p>
        </p:txBody>
      </p:sp>
      <p:sp>
        <p:nvSpPr>
          <p:cNvPr id="13" name="Text 11"/>
          <p:cNvSpPr txBox="1"/>
          <p:nvPr/>
        </p:nvSpPr>
        <p:spPr>
          <a:xfrm>
            <a:off x="9144000" y="1554480"/>
            <a:ext cx="2286000" cy="822960"/>
          </a:xfrm>
          <a:prstGeom prst="rect">
            <a:avLst/>
          </a:prstGeom>
          <a:noFill/>
          <a:ln/>
        </p:spPr>
        <p:txBody>
          <a:bodyPr wrap="square" lIns="0" tIns="0" rIns="0" bIns="0" rtlCol="0" anchor="ctr"/>
          <a:lstStyle/>
          <a:p>
            <a:pPr marL="0" indent="0">
              <a:buNone/>
            </a:pPr>
            <a:r>
              <a:rPr lang="en-US" sz="4000" b="1" dirty="0">
                <a:solidFill>
                  <a:srgbClr val="1F4E79"/>
                </a:solidFill>
                <a:latin typeface="Calibri" pitchFamily="34" charset="0"/>
                <a:ea typeface="Calibri" pitchFamily="34" charset="-122"/>
                <a:cs typeface="Calibri" pitchFamily="34" charset="-120"/>
              </a:rPr>
              <a:t>Dec 2026</a:t>
            </a:r>
            <a:endParaRPr lang="en-US" sz="4000" dirty="0"/>
          </a:p>
        </p:txBody>
      </p:sp>
      <p:sp>
        <p:nvSpPr>
          <p:cNvPr id="14" name="Text 12"/>
          <p:cNvSpPr txBox="1"/>
          <p:nvPr/>
        </p:nvSpPr>
        <p:spPr>
          <a:xfrm>
            <a:off x="9144000" y="2377440"/>
            <a:ext cx="2286000" cy="9144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HealthX wants it proven before Christmas, roughly three months</a:t>
            </a:r>
            <a:endParaRPr lang="en-US" sz="1300" dirty="0"/>
          </a:p>
        </p:txBody>
      </p:sp>
      <p:sp>
        <p:nvSpPr>
          <p:cNvPr id="15" name="Text 13"/>
          <p:cNvSpPr txBox="1"/>
          <p:nvPr/>
        </p:nvSpPr>
        <p:spPr>
          <a:xfrm>
            <a:off x="457200" y="3657600"/>
            <a:ext cx="11247120" cy="64008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What AWS has: </a:t>
            </a:r>
            <a:r>
              <a:rPr lang="en-US" sz="1500" dirty="0">
                <a:solidFill>
                  <a:srgbClr val="262626"/>
                </a:solidFill>
                <a:latin typeface="Calibri" pitchFamily="34" charset="0"/>
                <a:ea typeface="Calibri" pitchFamily="34" charset="-122"/>
                <a:cs typeface="Calibri" pitchFamily="34" charset="-120"/>
              </a:rPr>
              <a:t>a defined pattern (FLOW) and a working demo for building clinical registries directly on HealthLake, which HealthX has adopted as its unified FHIR data foundation.</a:t>
            </a:r>
            <a:endParaRPr lang="en-US" sz="1500" dirty="0"/>
          </a:p>
        </p:txBody>
      </p:sp>
      <p:sp>
        <p:nvSpPr>
          <p:cNvPr id="16" name="Text 14"/>
          <p:cNvSpPr txBox="1"/>
          <p:nvPr/>
        </p:nvSpPr>
        <p:spPr>
          <a:xfrm>
            <a:off x="457200" y="4389120"/>
            <a:ext cx="11247120" cy="64008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What HealthX wants: </a:t>
            </a:r>
            <a:r>
              <a:rPr lang="en-US" sz="1500" dirty="0">
                <a:solidFill>
                  <a:srgbClr val="262626"/>
                </a:solidFill>
                <a:latin typeface="Calibri" pitchFamily="34" charset="0"/>
                <a:ea typeface="Calibri" pitchFamily="34" charset="-122"/>
                <a:cs typeface="Calibri" pitchFamily="34" charset="-120"/>
              </a:rPr>
              <a:t>a partner to take ownership and prove the pattern on real REDCap registers before Christmas, then launch a new registry every fortnight in the new year.</a:t>
            </a:r>
            <a:endParaRPr lang="en-US" sz="1500" dirty="0"/>
          </a:p>
        </p:txBody>
      </p:sp>
      <p:sp>
        <p:nvSpPr>
          <p:cNvPr id="17" name="Text 15"/>
          <p:cNvSpPr txBox="1"/>
          <p:nvPr/>
        </p:nvSpPr>
        <p:spPr>
          <a:xfrm>
            <a:off x="457200" y="5120640"/>
            <a:ext cx="11247120" cy="82296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What Koan brings: </a:t>
            </a:r>
            <a:r>
              <a:rPr lang="en-US" sz="1500" dirty="0">
                <a:solidFill>
                  <a:srgbClr val="262626"/>
                </a:solidFill>
                <a:latin typeface="Calibri" pitchFamily="34" charset="0"/>
                <a:ea typeface="Calibri" pitchFamily="34" charset="-122"/>
                <a:cs typeface="Calibri" pitchFamily="34" charset="-120"/>
              </a:rPr>
              <a:t>an HNZ Integration Panel MSA, relationships with Heath, Raj and Ken, delivery credibility from HSAAP, and the agility AWS says larger partners lack. Funded through AWS partner POC funding with Koan as partner of record.</a:t>
            </a:r>
            <a:endParaRPr lang="en-US" sz="1500" dirty="0"/>
          </a:p>
        </p:txBody>
      </p:sp>
      <p:sp>
        <p:nvSpPr>
          <p:cNvPr id="18" name="Text 16"/>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19" name="Text 17"/>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The problem: clinical white space</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Half the health system is not supported by a core platform and never will be</a:t>
            </a:r>
            <a:endParaRPr lang="en-US" sz="1400" dirty="0"/>
          </a:p>
        </p:txBody>
      </p:sp>
      <p:sp>
        <p:nvSpPr>
          <p:cNvPr id="4" name="Shape 2"/>
          <p:cNvSpPr/>
          <p:nvPr/>
        </p:nvSpPr>
        <p:spPr>
          <a:xfrm>
            <a:off x="548640" y="160020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659282" y="1710842"/>
            <a:ext cx="281635" cy="281635"/>
          </a:xfrm>
          <a:prstGeom prst="rect">
            <a:avLst/>
          </a:prstGeom>
        </p:spPr>
      </p:pic>
      <p:sp>
        <p:nvSpPr>
          <p:cNvPr id="6" name="Text 3"/>
          <p:cNvSpPr txBox="1"/>
          <p:nvPr/>
        </p:nvSpPr>
        <p:spPr>
          <a:xfrm>
            <a:off x="1280160" y="1554480"/>
            <a:ext cx="10332720" cy="36576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Health is many services, not one</a:t>
            </a:r>
            <a:endParaRPr lang="en-US" sz="1700" dirty="0"/>
          </a:p>
        </p:txBody>
      </p:sp>
      <p:sp>
        <p:nvSpPr>
          <p:cNvPr id="7" name="Text 4"/>
          <p:cNvSpPr txBox="1"/>
          <p:nvPr/>
        </p:nvSpPr>
        <p:spPr>
          <a:xfrm>
            <a:off x="1280160" y="1920240"/>
            <a:ext cx="1033272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Primary, population health, acute, ambulatory, rare disease, specialist, allied. Each has different data needs. Building a bespoke EMR workflow for every one is uneconomic.</a:t>
            </a:r>
            <a:endParaRPr lang="en-US" sz="1300" dirty="0"/>
          </a:p>
        </p:txBody>
      </p:sp>
      <p:sp>
        <p:nvSpPr>
          <p:cNvPr id="8" name="Shape 5"/>
          <p:cNvSpPr/>
          <p:nvPr/>
        </p:nvSpPr>
        <p:spPr>
          <a:xfrm>
            <a:off x="548640" y="278892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9" name="Image 1" descr="preencoded.png"/>
          <p:cNvPicPr>
            <a:picLocks noChangeAspect="1"/>
          </p:cNvPicPr>
          <p:nvPr/>
        </p:nvPicPr>
        <p:blipFill>
          <a:blip r:embed="rId4"/>
          <a:stretch>
            <a:fillRect/>
          </a:stretch>
        </p:blipFill>
        <p:spPr>
          <a:xfrm>
            <a:off x="659282" y="2899562"/>
            <a:ext cx="281635" cy="281635"/>
          </a:xfrm>
          <a:prstGeom prst="rect">
            <a:avLst/>
          </a:prstGeom>
        </p:spPr>
      </p:pic>
      <p:sp>
        <p:nvSpPr>
          <p:cNvPr id="10" name="Text 6"/>
          <p:cNvSpPr txBox="1"/>
          <p:nvPr/>
        </p:nvSpPr>
        <p:spPr>
          <a:xfrm>
            <a:off x="1280160" y="2743200"/>
            <a:ext cx="10332720" cy="36576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So clinicians build their own registers</a:t>
            </a:r>
            <a:endParaRPr lang="en-US" sz="1700" dirty="0"/>
          </a:p>
        </p:txBody>
      </p:sp>
      <p:sp>
        <p:nvSpPr>
          <p:cNvPr id="11" name="Text 7"/>
          <p:cNvSpPr txBox="1"/>
          <p:nvPr/>
        </p:nvSpPr>
        <p:spPr>
          <a:xfrm>
            <a:off x="1280160" y="3108960"/>
            <a:ext cx="1033272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Spreadsheets, Access, local SQL, REDCap. Eddie knows of five ovarian cancer registers in NZ, two on spreadsheets. It is rational, and it is fragile.</a:t>
            </a:r>
            <a:endParaRPr lang="en-US" sz="1300" dirty="0"/>
          </a:p>
        </p:txBody>
      </p:sp>
      <p:sp>
        <p:nvSpPr>
          <p:cNvPr id="12" name="Shape 8"/>
          <p:cNvSpPr/>
          <p:nvPr/>
        </p:nvSpPr>
        <p:spPr>
          <a:xfrm>
            <a:off x="548640" y="397764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13" name="Image 2" descr="preencoded.png"/>
          <p:cNvPicPr>
            <a:picLocks noChangeAspect="1"/>
          </p:cNvPicPr>
          <p:nvPr/>
        </p:nvPicPr>
        <p:blipFill>
          <a:blip r:embed="rId5"/>
          <a:stretch>
            <a:fillRect/>
          </a:stretch>
        </p:blipFill>
        <p:spPr>
          <a:xfrm>
            <a:off x="659282" y="4088282"/>
            <a:ext cx="281635" cy="281635"/>
          </a:xfrm>
          <a:prstGeom prst="rect">
            <a:avLst/>
          </a:prstGeom>
        </p:spPr>
      </p:pic>
      <p:sp>
        <p:nvSpPr>
          <p:cNvPr id="14" name="Text 9"/>
          <p:cNvSpPr txBox="1"/>
          <p:nvPr/>
        </p:nvSpPr>
        <p:spPr>
          <a:xfrm>
            <a:off x="1280160" y="3931920"/>
            <a:ext cx="10332720" cy="36576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That data is invisible to the rest of the system</a:t>
            </a:r>
            <a:endParaRPr lang="en-US" sz="1700" dirty="0"/>
          </a:p>
        </p:txBody>
      </p:sp>
      <p:sp>
        <p:nvSpPr>
          <p:cNvPr id="15" name="Text 10"/>
          <p:cNvSpPr txBox="1"/>
          <p:nvPr/>
        </p:nvSpPr>
        <p:spPr>
          <a:xfrm>
            <a:off x="1280160" y="4297680"/>
            <a:ext cx="1033272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A GP learns a rare-cancer patient's status by letter. Rhapsody moves messages between systems but holds no persistent state anyone can query.</a:t>
            </a:r>
            <a:endParaRPr lang="en-US" sz="1300" dirty="0"/>
          </a:p>
        </p:txBody>
      </p:sp>
      <p:sp>
        <p:nvSpPr>
          <p:cNvPr id="16" name="Shape 11"/>
          <p:cNvSpPr/>
          <p:nvPr/>
        </p:nvSpPr>
        <p:spPr>
          <a:xfrm>
            <a:off x="548640" y="516636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17" name="Image 3" descr="preencoded.png"/>
          <p:cNvPicPr>
            <a:picLocks noChangeAspect="1"/>
          </p:cNvPicPr>
          <p:nvPr/>
        </p:nvPicPr>
        <p:blipFill>
          <a:blip r:embed="rId6"/>
          <a:stretch>
            <a:fillRect/>
          </a:stretch>
        </p:blipFill>
        <p:spPr>
          <a:xfrm>
            <a:off x="659282" y="5277002"/>
            <a:ext cx="281635" cy="281635"/>
          </a:xfrm>
          <a:prstGeom prst="rect">
            <a:avLst/>
          </a:prstGeom>
        </p:spPr>
      </p:pic>
      <p:sp>
        <p:nvSpPr>
          <p:cNvPr id="18" name="Text 12"/>
          <p:cNvSpPr txBox="1"/>
          <p:nvPr/>
        </p:nvSpPr>
        <p:spPr>
          <a:xfrm>
            <a:off x="1280160" y="5120640"/>
            <a:ext cx="10332720" cy="36576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Customising the EMR is not the answer</a:t>
            </a:r>
            <a:endParaRPr lang="en-US" sz="1700" dirty="0"/>
          </a:p>
        </p:txBody>
      </p:sp>
      <p:sp>
        <p:nvSpPr>
          <p:cNvPr id="19" name="Text 13"/>
          <p:cNvSpPr txBox="1"/>
          <p:nvPr/>
        </p:nvSpPr>
        <p:spPr>
          <a:xfrm>
            <a:off x="1280160" y="5486400"/>
            <a:ext cx="1033272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Backlog, cross-unit approvals, release bundling. No change is trivial, so the long tail stays on local tools.</a:t>
            </a:r>
            <a:endParaRPr lang="en-US" sz="1300" dirty="0"/>
          </a:p>
        </p:txBody>
      </p:sp>
      <p:sp>
        <p:nvSpPr>
          <p:cNvPr id="20" name="Text 14"/>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21" name="Text 15"/>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Where HNZ is today</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HealthLake is live as the unified FHIR data foundation. Registries are the missing layer.</a:t>
            </a:r>
            <a:endParaRPr lang="en-US" sz="1400" dirty="0"/>
          </a:p>
        </p:txBody>
      </p:sp>
      <p:sp>
        <p:nvSpPr>
          <p:cNvPr id="4" name="Shape 2"/>
          <p:cNvSpPr/>
          <p:nvPr/>
        </p:nvSpPr>
        <p:spPr>
          <a:xfrm>
            <a:off x="457200" y="155448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5" name="Shape 3"/>
          <p:cNvSpPr/>
          <p:nvPr/>
        </p:nvSpPr>
        <p:spPr>
          <a:xfrm>
            <a:off x="685800" y="178308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796442" y="1893722"/>
            <a:ext cx="281635" cy="281635"/>
          </a:xfrm>
          <a:prstGeom prst="rect">
            <a:avLst/>
          </a:prstGeom>
        </p:spPr>
      </p:pic>
      <p:sp>
        <p:nvSpPr>
          <p:cNvPr id="7" name="Text 4"/>
          <p:cNvSpPr txBox="1"/>
          <p:nvPr/>
        </p:nvSpPr>
        <p:spPr>
          <a:xfrm>
            <a:off x="1371600" y="178308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HealthLake in production</a:t>
            </a:r>
            <a:endParaRPr lang="en-US" sz="1800" dirty="0"/>
          </a:p>
        </p:txBody>
      </p:sp>
      <p:sp>
        <p:nvSpPr>
          <p:cNvPr id="8" name="Text 5"/>
          <p:cNvSpPr txBox="1"/>
          <p:nvPr/>
        </p:nvSpPr>
        <p:spPr>
          <a:xfrm>
            <a:off x="685800" y="2468880"/>
            <a:ext cx="5074920" cy="105156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Managed FHIR R4 store, OpenSearch query layer, Iceberg export to Snowflake. Firely FHIR server being ported in.</a:t>
            </a:r>
            <a:endParaRPr lang="en-US" sz="1350" dirty="0"/>
          </a:p>
        </p:txBody>
      </p:sp>
      <p:sp>
        <p:nvSpPr>
          <p:cNvPr id="9" name="Shape 6"/>
          <p:cNvSpPr/>
          <p:nvPr/>
        </p:nvSpPr>
        <p:spPr>
          <a:xfrm>
            <a:off x="6172200" y="155448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10" name="Shape 7"/>
          <p:cNvSpPr/>
          <p:nvPr/>
        </p:nvSpPr>
        <p:spPr>
          <a:xfrm>
            <a:off x="6400800" y="178308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6511442" y="1893722"/>
            <a:ext cx="281635" cy="281635"/>
          </a:xfrm>
          <a:prstGeom prst="rect">
            <a:avLst/>
          </a:prstGeom>
        </p:spPr>
      </p:pic>
      <p:sp>
        <p:nvSpPr>
          <p:cNvPr id="12" name="Text 8"/>
          <p:cNvSpPr txBox="1"/>
          <p:nvPr/>
        </p:nvSpPr>
        <p:spPr>
          <a:xfrm>
            <a:off x="7086600" y="178308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Bedrock services on top</a:t>
            </a:r>
            <a:endParaRPr lang="en-US" sz="1800" dirty="0"/>
          </a:p>
        </p:txBody>
      </p:sp>
      <p:sp>
        <p:nvSpPr>
          <p:cNvPr id="13" name="Text 9"/>
          <p:cNvSpPr txBox="1"/>
          <p:nvPr/>
        </p:nvSpPr>
        <p:spPr>
          <a:xfrm>
            <a:off x="6400800" y="2468880"/>
            <a:ext cx="5074920" cy="105156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Patient summary, guided triage and NLP, built or in pipeline under the HealthX "AI Foundation". Opinionated AI architecture.</a:t>
            </a:r>
            <a:endParaRPr lang="en-US" sz="1350" dirty="0"/>
          </a:p>
        </p:txBody>
      </p:sp>
      <p:sp>
        <p:nvSpPr>
          <p:cNvPr id="14" name="Shape 10"/>
          <p:cNvSpPr/>
          <p:nvPr/>
        </p:nvSpPr>
        <p:spPr>
          <a:xfrm>
            <a:off x="457200" y="388620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15" name="Shape 11"/>
          <p:cNvSpPr/>
          <p:nvPr/>
        </p:nvSpPr>
        <p:spPr>
          <a:xfrm>
            <a:off x="685800" y="411480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796442" y="4225442"/>
            <a:ext cx="281635" cy="281635"/>
          </a:xfrm>
          <a:prstGeom prst="rect">
            <a:avLst/>
          </a:prstGeom>
        </p:spPr>
      </p:pic>
      <p:sp>
        <p:nvSpPr>
          <p:cNvPr id="17" name="Text 12"/>
          <p:cNvSpPr txBox="1"/>
          <p:nvPr/>
        </p:nvSpPr>
        <p:spPr>
          <a:xfrm>
            <a:off x="1371600" y="411480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Rhapsody moves events</a:t>
            </a:r>
            <a:endParaRPr lang="en-US" sz="1800" dirty="0"/>
          </a:p>
        </p:txBody>
      </p:sp>
      <p:sp>
        <p:nvSpPr>
          <p:cNvPr id="18" name="Text 13"/>
          <p:cNvSpPr txBox="1"/>
          <p:nvPr/>
        </p:nvSpPr>
        <p:spPr>
          <a:xfrm>
            <a:off x="685800" y="4800600"/>
            <a:ext cx="5074920" cy="105156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HL7 v2 messaging between EMR, PAS and labs. Event-based only. No unified persistent state.</a:t>
            </a:r>
            <a:endParaRPr lang="en-US" sz="1350" dirty="0"/>
          </a:p>
        </p:txBody>
      </p:sp>
      <p:sp>
        <p:nvSpPr>
          <p:cNvPr id="19" name="Shape 14"/>
          <p:cNvSpPr/>
          <p:nvPr/>
        </p:nvSpPr>
        <p:spPr>
          <a:xfrm>
            <a:off x="6172200" y="3886200"/>
            <a:ext cx="5532120" cy="2103120"/>
          </a:xfrm>
          <a:prstGeom prst="roundRect">
            <a:avLst>
              <a:gd name="adj" fmla="val 3478"/>
            </a:avLst>
          </a:prstGeom>
          <a:solidFill>
            <a:srgbClr val="FDF1E7"/>
          </a:solidFill>
          <a:ln w="12700">
            <a:solidFill>
              <a:srgbClr val="FDF1E7"/>
            </a:solidFill>
            <a:prstDash val="solid"/>
          </a:ln>
        </p:spPr>
        <p:txBody>
          <a:bodyPr/>
          <a:lstStyle/>
          <a:p>
            <a:endParaRPr lang="en-NZ"/>
          </a:p>
        </p:txBody>
      </p:sp>
      <p:sp>
        <p:nvSpPr>
          <p:cNvPr id="20" name="Shape 15"/>
          <p:cNvSpPr/>
          <p:nvPr/>
        </p:nvSpPr>
        <p:spPr>
          <a:xfrm>
            <a:off x="6400800" y="4114800"/>
            <a:ext cx="502920" cy="502920"/>
          </a:xfrm>
          <a:prstGeom prst="ellipse">
            <a:avLst/>
          </a:prstGeom>
          <a:solidFill>
            <a:srgbClr val="C55A11"/>
          </a:solidFill>
          <a:ln w="12700">
            <a:solidFill>
              <a:srgbClr val="C55A11"/>
            </a:solidFill>
            <a:prstDash val="solid"/>
          </a:ln>
        </p:spPr>
        <p:txBody>
          <a:bodyPr/>
          <a:lstStyle/>
          <a:p>
            <a:endParaRPr lang="en-NZ"/>
          </a:p>
        </p:txBody>
      </p:sp>
      <p:pic>
        <p:nvPicPr>
          <p:cNvPr id="21" name="Image 3" descr="preencoded.png"/>
          <p:cNvPicPr>
            <a:picLocks noChangeAspect="1"/>
          </p:cNvPicPr>
          <p:nvPr/>
        </p:nvPicPr>
        <p:blipFill>
          <a:blip r:embed="rId6"/>
          <a:stretch>
            <a:fillRect/>
          </a:stretch>
        </p:blipFill>
        <p:spPr>
          <a:xfrm>
            <a:off x="6511442" y="4225442"/>
            <a:ext cx="281635" cy="281635"/>
          </a:xfrm>
          <a:prstGeom prst="rect">
            <a:avLst/>
          </a:prstGeom>
        </p:spPr>
      </p:pic>
      <p:sp>
        <p:nvSpPr>
          <p:cNvPr id="22" name="Text 16"/>
          <p:cNvSpPr txBox="1"/>
          <p:nvPr/>
        </p:nvSpPr>
        <p:spPr>
          <a:xfrm>
            <a:off x="7086600" y="4114800"/>
            <a:ext cx="4480560" cy="502920"/>
          </a:xfrm>
          <a:prstGeom prst="rect">
            <a:avLst/>
          </a:prstGeom>
          <a:noFill/>
          <a:ln/>
        </p:spPr>
        <p:txBody>
          <a:bodyPr wrap="square" lIns="0" tIns="0" rIns="0" bIns="0" rtlCol="0" anchor="ctr"/>
          <a:lstStyle/>
          <a:p>
            <a:pPr marL="0" indent="0">
              <a:buNone/>
            </a:pPr>
            <a:r>
              <a:rPr lang="en-US" sz="1800" b="1" dirty="0">
                <a:solidFill>
                  <a:srgbClr val="C55A11"/>
                </a:solidFill>
                <a:latin typeface="Calibri" pitchFamily="34" charset="0"/>
                <a:ea typeface="Calibri" pitchFamily="34" charset="-122"/>
                <a:cs typeface="Calibri" pitchFamily="34" charset="-120"/>
              </a:rPr>
              <a:t>The gap</a:t>
            </a:r>
            <a:endParaRPr lang="en-US" sz="1800" dirty="0"/>
          </a:p>
        </p:txBody>
      </p:sp>
      <p:sp>
        <p:nvSpPr>
          <p:cNvPr id="23" name="Text 17"/>
          <p:cNvSpPr txBox="1"/>
          <p:nvPr/>
        </p:nvSpPr>
        <p:spPr>
          <a:xfrm>
            <a:off x="6400800" y="4800600"/>
            <a:ext cx="5074920" cy="105156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Nothing knows a patient's pathway or status for a given clinical context, and nothing brings local registers into HealthLake.</a:t>
            </a:r>
            <a:endParaRPr lang="en-US" sz="1350" dirty="0"/>
          </a:p>
        </p:txBody>
      </p:sp>
      <p:sp>
        <p:nvSpPr>
          <p:cNvPr id="24" name="Text 18"/>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25" name="Text 19"/>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Target architecture and POC scope</a:t>
            </a:r>
            <a:endParaRPr lang="en-US" sz="3000" dirty="0"/>
          </a:p>
        </p:txBody>
      </p:sp>
      <p:pic>
        <p:nvPicPr>
          <p:cNvPr id="3" name="Image 0" descr="/home/claude/doc/arch.png"/>
          <p:cNvPicPr>
            <a:picLocks noChangeAspect="1"/>
          </p:cNvPicPr>
          <p:nvPr/>
        </p:nvPicPr>
        <p:blipFill>
          <a:blip r:embed="rId3"/>
          <a:stretch>
            <a:fillRect/>
          </a:stretch>
        </p:blipFill>
        <p:spPr>
          <a:xfrm>
            <a:off x="685800" y="1097280"/>
            <a:ext cx="10817352" cy="5257800"/>
          </a:xfrm>
          <a:prstGeom prst="rect">
            <a:avLst/>
          </a:prstGeom>
        </p:spPr>
      </p:pic>
      <p:sp>
        <p:nvSpPr>
          <p:cNvPr id="4" name="Text 1"/>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5" name="Text 2"/>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The FLOW pattern</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FHIR-based Longitudinal Operational Workflow. Eddie built the demo in four days; the pattern is what HealthX has adopted.</a:t>
            </a:r>
            <a:endParaRPr lang="en-US" sz="1400" dirty="0"/>
          </a:p>
        </p:txBody>
      </p:sp>
      <p:sp>
        <p:nvSpPr>
          <p:cNvPr id="4" name="Shape 2"/>
          <p:cNvSpPr/>
          <p:nvPr/>
        </p:nvSpPr>
        <p:spPr>
          <a:xfrm>
            <a:off x="457200" y="1554480"/>
            <a:ext cx="361188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5" name="Shape 3"/>
          <p:cNvSpPr/>
          <p:nvPr/>
        </p:nvSpPr>
        <p:spPr>
          <a:xfrm>
            <a:off x="685800" y="1783080"/>
            <a:ext cx="502920" cy="502920"/>
          </a:xfrm>
          <a:prstGeom prst="ellipse">
            <a:avLst/>
          </a:prstGeom>
          <a:solidFill>
            <a:srgbClr val="1F4E79"/>
          </a:solidFill>
          <a:ln w="12700">
            <a:solidFill>
              <a:srgbClr val="1F4E79"/>
            </a:solidFill>
            <a:prstDash val="solid"/>
          </a:ln>
        </p:spPr>
        <p:txBody>
          <a:bodyPr/>
          <a:lstStyle/>
          <a:p>
            <a:endParaRPr lang="en-NZ"/>
          </a:p>
        </p:txBody>
      </p:sp>
      <p:sp>
        <p:nvSpPr>
          <p:cNvPr id="6" name="Text 4"/>
          <p:cNvSpPr txBox="1"/>
          <p:nvPr/>
        </p:nvSpPr>
        <p:spPr>
          <a:xfrm>
            <a:off x="685800" y="1783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25880" y="1783080"/>
            <a:ext cx="2560320" cy="50292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Data</a:t>
            </a:r>
            <a:endParaRPr lang="en-US" sz="1700" dirty="0"/>
          </a:p>
        </p:txBody>
      </p:sp>
      <p:sp>
        <p:nvSpPr>
          <p:cNvPr id="8" name="Text 6"/>
          <p:cNvSpPr txBox="1"/>
          <p:nvPr/>
        </p:nvSpPr>
        <p:spPr>
          <a:xfrm>
            <a:off x="685800" y="2423160"/>
            <a:ext cx="3154680" cy="10972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HealthLake holds every core FHIR resource. No registry-specific structure lives here.</a:t>
            </a:r>
            <a:endParaRPr lang="en-US" sz="1300" dirty="0"/>
          </a:p>
        </p:txBody>
      </p:sp>
      <p:sp>
        <p:nvSpPr>
          <p:cNvPr id="9" name="Shape 7"/>
          <p:cNvSpPr/>
          <p:nvPr/>
        </p:nvSpPr>
        <p:spPr>
          <a:xfrm>
            <a:off x="4251960" y="1554480"/>
            <a:ext cx="361188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10" name="Shape 8"/>
          <p:cNvSpPr/>
          <p:nvPr/>
        </p:nvSpPr>
        <p:spPr>
          <a:xfrm>
            <a:off x="4480560" y="1783080"/>
            <a:ext cx="502920" cy="502920"/>
          </a:xfrm>
          <a:prstGeom prst="ellipse">
            <a:avLst/>
          </a:prstGeom>
          <a:solidFill>
            <a:srgbClr val="1F4E79"/>
          </a:solidFill>
          <a:ln w="12700">
            <a:solidFill>
              <a:srgbClr val="1F4E79"/>
            </a:solidFill>
            <a:prstDash val="solid"/>
          </a:ln>
        </p:spPr>
        <p:txBody>
          <a:bodyPr/>
          <a:lstStyle/>
          <a:p>
            <a:endParaRPr lang="en-NZ"/>
          </a:p>
        </p:txBody>
      </p:sp>
      <p:sp>
        <p:nvSpPr>
          <p:cNvPr id="11" name="Text 9"/>
          <p:cNvSpPr txBox="1"/>
          <p:nvPr/>
        </p:nvSpPr>
        <p:spPr>
          <a:xfrm>
            <a:off x="4480560" y="1783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120640" y="1783080"/>
            <a:ext cx="2560320" cy="50292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Dynamic active register</a:t>
            </a:r>
            <a:endParaRPr lang="en-US" sz="1700" dirty="0"/>
          </a:p>
        </p:txBody>
      </p:sp>
      <p:sp>
        <p:nvSpPr>
          <p:cNvPr id="13" name="Text 11"/>
          <p:cNvSpPr txBox="1"/>
          <p:nvPr/>
        </p:nvSpPr>
        <p:spPr>
          <a:xfrm>
            <a:off x="4480560" y="2423160"/>
            <a:ext cx="3154680" cy="10972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Assembled at query time from HealthLake by a SNOMED CT code set. Always current, no manual upkeep.</a:t>
            </a:r>
            <a:endParaRPr lang="en-US" sz="1300" dirty="0"/>
          </a:p>
        </p:txBody>
      </p:sp>
      <p:sp>
        <p:nvSpPr>
          <p:cNvPr id="14" name="Shape 12"/>
          <p:cNvSpPr/>
          <p:nvPr/>
        </p:nvSpPr>
        <p:spPr>
          <a:xfrm>
            <a:off x="8046720" y="1554480"/>
            <a:ext cx="361188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15" name="Shape 13"/>
          <p:cNvSpPr/>
          <p:nvPr/>
        </p:nvSpPr>
        <p:spPr>
          <a:xfrm>
            <a:off x="8275320" y="1783080"/>
            <a:ext cx="502920" cy="502920"/>
          </a:xfrm>
          <a:prstGeom prst="ellipse">
            <a:avLst/>
          </a:prstGeom>
          <a:solidFill>
            <a:srgbClr val="1F4E79"/>
          </a:solidFill>
          <a:ln w="12700">
            <a:solidFill>
              <a:srgbClr val="1F4E79"/>
            </a:solidFill>
            <a:prstDash val="solid"/>
          </a:ln>
        </p:spPr>
        <p:txBody>
          <a:bodyPr/>
          <a:lstStyle/>
          <a:p>
            <a:endParaRPr lang="en-NZ"/>
          </a:p>
        </p:txBody>
      </p:sp>
      <p:sp>
        <p:nvSpPr>
          <p:cNvPr id="16" name="Text 14"/>
          <p:cNvSpPr txBox="1"/>
          <p:nvPr/>
        </p:nvSpPr>
        <p:spPr>
          <a:xfrm>
            <a:off x="8275320" y="1783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8915400" y="1783080"/>
            <a:ext cx="2560320" cy="50292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Pathway and state store</a:t>
            </a:r>
            <a:endParaRPr lang="en-US" sz="1700" dirty="0"/>
          </a:p>
        </p:txBody>
      </p:sp>
      <p:sp>
        <p:nvSpPr>
          <p:cNvPr id="18" name="Text 16"/>
          <p:cNvSpPr txBox="1"/>
          <p:nvPr/>
        </p:nvSpPr>
        <p:spPr>
          <a:xfrm>
            <a:off x="8275320" y="2423160"/>
            <a:ext cx="3154680" cy="10972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Stage, status and episode of care per clinical context. DynamoDB in the demo; Postgres is fine.</a:t>
            </a:r>
            <a:endParaRPr lang="en-US" sz="1300" dirty="0"/>
          </a:p>
        </p:txBody>
      </p:sp>
      <p:sp>
        <p:nvSpPr>
          <p:cNvPr id="19" name="Shape 17"/>
          <p:cNvSpPr/>
          <p:nvPr/>
        </p:nvSpPr>
        <p:spPr>
          <a:xfrm>
            <a:off x="457200" y="3886200"/>
            <a:ext cx="361188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20" name="Shape 18"/>
          <p:cNvSpPr/>
          <p:nvPr/>
        </p:nvSpPr>
        <p:spPr>
          <a:xfrm>
            <a:off x="685800" y="4114800"/>
            <a:ext cx="502920" cy="502920"/>
          </a:xfrm>
          <a:prstGeom prst="ellipse">
            <a:avLst/>
          </a:prstGeom>
          <a:solidFill>
            <a:srgbClr val="1F4E79"/>
          </a:solidFill>
          <a:ln w="12700">
            <a:solidFill>
              <a:srgbClr val="1F4E79"/>
            </a:solidFill>
            <a:prstDash val="solid"/>
          </a:ln>
        </p:spPr>
        <p:txBody>
          <a:bodyPr/>
          <a:lstStyle/>
          <a:p>
            <a:endParaRPr lang="en-NZ"/>
          </a:p>
        </p:txBody>
      </p:sp>
      <p:sp>
        <p:nvSpPr>
          <p:cNvPr id="21" name="Text 19"/>
          <p:cNvSpPr txBox="1"/>
          <p:nvPr/>
        </p:nvSpPr>
        <p:spPr>
          <a:xfrm>
            <a:off x="685800" y="4114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1325880" y="4114800"/>
            <a:ext cx="2560320" cy="50292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Forms</a:t>
            </a:r>
            <a:endParaRPr lang="en-US" sz="1700" dirty="0"/>
          </a:p>
        </p:txBody>
      </p:sp>
      <p:sp>
        <p:nvSpPr>
          <p:cNvPr id="23" name="Text 21"/>
          <p:cNvSpPr txBox="1"/>
          <p:nvPr/>
        </p:nvSpPr>
        <p:spPr>
          <a:xfrm>
            <a:off x="685800" y="4754880"/>
            <a:ext cx="3154680" cy="10972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Per-register data entry defined by clinicians. FHIR Questionnaire / SDC. Saved as the questionnaire plus its component resources.</a:t>
            </a:r>
            <a:endParaRPr lang="en-US" sz="1300" dirty="0"/>
          </a:p>
        </p:txBody>
      </p:sp>
      <p:sp>
        <p:nvSpPr>
          <p:cNvPr id="24" name="Shape 22"/>
          <p:cNvSpPr/>
          <p:nvPr/>
        </p:nvSpPr>
        <p:spPr>
          <a:xfrm>
            <a:off x="4251960" y="3886200"/>
            <a:ext cx="361188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25" name="Shape 23"/>
          <p:cNvSpPr/>
          <p:nvPr/>
        </p:nvSpPr>
        <p:spPr>
          <a:xfrm>
            <a:off x="4480560" y="4114800"/>
            <a:ext cx="502920" cy="502920"/>
          </a:xfrm>
          <a:prstGeom prst="ellipse">
            <a:avLst/>
          </a:prstGeom>
          <a:solidFill>
            <a:srgbClr val="1F4E79"/>
          </a:solidFill>
          <a:ln w="12700">
            <a:solidFill>
              <a:srgbClr val="1F4E79"/>
            </a:solidFill>
            <a:prstDash val="solid"/>
          </a:ln>
        </p:spPr>
        <p:txBody>
          <a:bodyPr/>
          <a:lstStyle/>
          <a:p>
            <a:endParaRPr lang="en-NZ"/>
          </a:p>
        </p:txBody>
      </p:sp>
      <p:sp>
        <p:nvSpPr>
          <p:cNvPr id="26" name="Text 24"/>
          <p:cNvSpPr txBox="1"/>
          <p:nvPr/>
        </p:nvSpPr>
        <p:spPr>
          <a:xfrm>
            <a:off x="4480560" y="4114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txBox="1"/>
          <p:nvPr/>
        </p:nvSpPr>
        <p:spPr>
          <a:xfrm>
            <a:off x="5120640" y="4114800"/>
            <a:ext cx="2560320" cy="50292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Workflow</a:t>
            </a:r>
            <a:endParaRPr lang="en-US" sz="1700" dirty="0"/>
          </a:p>
        </p:txBody>
      </p:sp>
      <p:sp>
        <p:nvSpPr>
          <p:cNvPr id="28" name="Text 26"/>
          <p:cNvSpPr txBox="1"/>
          <p:nvPr/>
        </p:nvSpPr>
        <p:spPr>
          <a:xfrm>
            <a:off x="4480560" y="4754880"/>
            <a:ext cx="3154680" cy="10972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Pathway stages, MDM case pack, immutable decision records, next actions. Connect for patient engagement later.</a:t>
            </a:r>
            <a:endParaRPr lang="en-US" sz="1300" dirty="0"/>
          </a:p>
        </p:txBody>
      </p:sp>
      <p:sp>
        <p:nvSpPr>
          <p:cNvPr id="29" name="Shape 27"/>
          <p:cNvSpPr/>
          <p:nvPr/>
        </p:nvSpPr>
        <p:spPr>
          <a:xfrm>
            <a:off x="8046720" y="3886200"/>
            <a:ext cx="361188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30" name="Shape 28"/>
          <p:cNvSpPr/>
          <p:nvPr/>
        </p:nvSpPr>
        <p:spPr>
          <a:xfrm>
            <a:off x="8275320" y="4114800"/>
            <a:ext cx="502920" cy="502920"/>
          </a:xfrm>
          <a:prstGeom prst="ellipse">
            <a:avLst/>
          </a:prstGeom>
          <a:solidFill>
            <a:srgbClr val="1F4E79"/>
          </a:solidFill>
          <a:ln w="12700">
            <a:solidFill>
              <a:srgbClr val="1F4E79"/>
            </a:solidFill>
            <a:prstDash val="solid"/>
          </a:ln>
        </p:spPr>
        <p:txBody>
          <a:bodyPr/>
          <a:lstStyle/>
          <a:p>
            <a:endParaRPr lang="en-NZ"/>
          </a:p>
        </p:txBody>
      </p:sp>
      <p:sp>
        <p:nvSpPr>
          <p:cNvPr id="31" name="Text 29"/>
          <p:cNvSpPr txBox="1"/>
          <p:nvPr/>
        </p:nvSpPr>
        <p:spPr>
          <a:xfrm>
            <a:off x="8275320" y="4114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txBox="1"/>
          <p:nvPr/>
        </p:nvSpPr>
        <p:spPr>
          <a:xfrm>
            <a:off x="8915400" y="4114800"/>
            <a:ext cx="2560320" cy="50292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Patient insights</a:t>
            </a:r>
            <a:endParaRPr lang="en-US" sz="1700" dirty="0"/>
          </a:p>
        </p:txBody>
      </p:sp>
      <p:sp>
        <p:nvSpPr>
          <p:cNvPr id="33" name="Text 31"/>
          <p:cNvSpPr txBox="1"/>
          <p:nvPr/>
        </p:nvSpPr>
        <p:spPr>
          <a:xfrm>
            <a:off x="8275320" y="4754880"/>
            <a:ext cx="3154680" cy="109728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The whole patient across contexts, permission-scoped. Registry data flows on to patient summary and other HealthX services.</a:t>
            </a:r>
            <a:endParaRPr lang="en-US" sz="1300" dirty="0"/>
          </a:p>
        </p:txBody>
      </p:sp>
      <p:sp>
        <p:nvSpPr>
          <p:cNvPr id="34" name="Text 32"/>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35" name="Text 33"/>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What is fixed and what is Koan's to decide</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Eddie was explicit. Re-litigating the architecture is the fastest way to lose the engagement.</a:t>
            </a:r>
            <a:endParaRPr lang="en-US" sz="1400" dirty="0"/>
          </a:p>
        </p:txBody>
      </p:sp>
      <p:sp>
        <p:nvSpPr>
          <p:cNvPr id="4" name="Shape 2"/>
          <p:cNvSpPr/>
          <p:nvPr/>
        </p:nvSpPr>
        <p:spPr>
          <a:xfrm>
            <a:off x="457200" y="1554480"/>
            <a:ext cx="5532120" cy="4480560"/>
          </a:xfrm>
          <a:prstGeom prst="roundRect">
            <a:avLst>
              <a:gd name="adj" fmla="val 1633"/>
            </a:avLst>
          </a:prstGeom>
          <a:solidFill>
            <a:srgbClr val="1F4E79"/>
          </a:solidFill>
          <a:ln w="12700">
            <a:solidFill>
              <a:srgbClr val="1F4E79"/>
            </a:solidFill>
            <a:prstDash val="solid"/>
          </a:ln>
        </p:spPr>
        <p:txBody>
          <a:bodyPr/>
          <a:lstStyle/>
          <a:p>
            <a:endParaRPr lang="en-NZ"/>
          </a:p>
        </p:txBody>
      </p:sp>
      <p:sp>
        <p:nvSpPr>
          <p:cNvPr id="5" name="Text 3"/>
          <p:cNvSpPr txBox="1"/>
          <p:nvPr/>
        </p:nvSpPr>
        <p:spPr>
          <a:xfrm>
            <a:off x="731520" y="1737360"/>
            <a:ext cx="50292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Not up for grabs</a:t>
            </a:r>
            <a:endParaRPr lang="en-US" sz="2000" dirty="0"/>
          </a:p>
        </p:txBody>
      </p:sp>
      <p:sp>
        <p:nvSpPr>
          <p:cNvPr id="6" name="Text 4"/>
          <p:cNvSpPr txBox="1"/>
          <p:nvPr/>
        </p:nvSpPr>
        <p:spPr>
          <a:xfrm>
            <a:off x="731520" y="228600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HealthLake as the data layer</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FHIR as the data model</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Registers assembled by code set from HealthLake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 pathway with persistent state per clinical context</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Working with what exists rather than restarting</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Proven before Christmas</a:t>
            </a:r>
            <a:endParaRPr lang="en-US" sz="1500" dirty="0"/>
          </a:p>
        </p:txBody>
      </p:sp>
      <p:sp>
        <p:nvSpPr>
          <p:cNvPr id="7" name="Shape 5"/>
          <p:cNvSpPr/>
          <p:nvPr/>
        </p:nvSpPr>
        <p:spPr>
          <a:xfrm>
            <a:off x="6217920" y="1554480"/>
            <a:ext cx="5532120" cy="4480560"/>
          </a:xfrm>
          <a:prstGeom prst="roundRect">
            <a:avLst>
              <a:gd name="adj" fmla="val 1633"/>
            </a:avLst>
          </a:prstGeom>
          <a:solidFill>
            <a:srgbClr val="EAF1F8"/>
          </a:solidFill>
          <a:ln w="12700">
            <a:solidFill>
              <a:srgbClr val="EAF1F8"/>
            </a:solidFill>
            <a:prstDash val="solid"/>
          </a:ln>
        </p:spPr>
        <p:txBody>
          <a:bodyPr/>
          <a:lstStyle/>
          <a:p>
            <a:endParaRPr lang="en-NZ"/>
          </a:p>
        </p:txBody>
      </p:sp>
      <p:sp>
        <p:nvSpPr>
          <p:cNvPr id="8" name="Text 6"/>
          <p:cNvSpPr txBox="1"/>
          <p:nvPr/>
        </p:nvSpPr>
        <p:spPr>
          <a:xfrm>
            <a:off x="6492240" y="1737360"/>
            <a:ext cx="5029200" cy="45720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Open, Koan decides with Craig</a:t>
            </a:r>
            <a:endParaRPr lang="en-US" sz="2000" dirty="0"/>
          </a:p>
        </p:txBody>
      </p:sp>
      <p:sp>
        <p:nvSpPr>
          <p:cNvPr id="9" name="Text 7"/>
          <p:cNvSpPr txBox="1"/>
          <p:nvPr/>
        </p:nvSpPr>
        <p:spPr>
          <a:xfrm>
            <a:off x="6492240" y="228600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62626"/>
                </a:solidFill>
                <a:latin typeface="Calibri" pitchFamily="34" charset="0"/>
                <a:ea typeface="Calibri" pitchFamily="34" charset="-122"/>
                <a:cs typeface="Calibri" pitchFamily="34" charset="-120"/>
              </a:rPr>
              <a:t>How the pathway is built and structured</a:t>
            </a:r>
            <a:endParaRPr lang="en-US" sz="1500" dirty="0"/>
          </a:p>
          <a:p>
            <a:pPr marL="342900" indent="-342900">
              <a:spcAft>
                <a:spcPts val="800"/>
              </a:spcAft>
              <a:buSzPct val="100000"/>
              <a:buChar char="•"/>
            </a:pPr>
            <a:r>
              <a:rPr lang="en-US" sz="1500" dirty="0">
                <a:solidFill>
                  <a:srgbClr val="262626"/>
                </a:solidFill>
                <a:latin typeface="Calibri" pitchFamily="34" charset="0"/>
                <a:ea typeface="Calibri" pitchFamily="34" charset="-122"/>
                <a:cs typeface="Calibri" pitchFamily="34" charset="-120"/>
              </a:rPr>
              <a:t>State store: DynamoDB or Postgres, driven by the data</a:t>
            </a:r>
            <a:endParaRPr lang="en-US" sz="1500" dirty="0"/>
          </a:p>
          <a:p>
            <a:pPr marL="342900" indent="-342900">
              <a:spcAft>
                <a:spcPts val="800"/>
              </a:spcAft>
              <a:buSzPct val="100000"/>
              <a:buChar char="•"/>
            </a:pPr>
            <a:r>
              <a:rPr lang="en-US" sz="1500" dirty="0">
                <a:solidFill>
                  <a:srgbClr val="262626"/>
                </a:solidFill>
                <a:latin typeface="Calibri" pitchFamily="34" charset="0"/>
                <a:ea typeface="Calibri" pitchFamily="34" charset="-122"/>
                <a:cs typeface="Calibri" pitchFamily="34" charset="-120"/>
              </a:rPr>
              <a:t>Forms engine: SDC recommended, open source implementations exist</a:t>
            </a:r>
            <a:endParaRPr lang="en-US" sz="1500" dirty="0"/>
          </a:p>
          <a:p>
            <a:pPr marL="342900" indent="-342900">
              <a:spcAft>
                <a:spcPts val="800"/>
              </a:spcAft>
              <a:buSzPct val="100000"/>
              <a:buChar char="•"/>
            </a:pPr>
            <a:r>
              <a:rPr lang="en-US" sz="1500" dirty="0">
                <a:solidFill>
                  <a:srgbClr val="262626"/>
                </a:solidFill>
                <a:latin typeface="Calibri" pitchFamily="34" charset="0"/>
                <a:ea typeface="Calibri" pitchFamily="34" charset="-122"/>
                <a:cs typeface="Calibri" pitchFamily="34" charset="-120"/>
              </a:rPr>
              <a:t>Registry functionality, which is the clinicians' call</a:t>
            </a:r>
            <a:endParaRPr lang="en-US" sz="1500" dirty="0"/>
          </a:p>
          <a:p>
            <a:pPr marL="342900" indent="-342900">
              <a:spcAft>
                <a:spcPts val="800"/>
              </a:spcAft>
              <a:buSzPct val="100000"/>
              <a:buChar char="•"/>
            </a:pPr>
            <a:r>
              <a:rPr lang="en-US" sz="1500" dirty="0">
                <a:solidFill>
                  <a:srgbClr val="262626"/>
                </a:solidFill>
                <a:latin typeface="Calibri" pitchFamily="34" charset="0"/>
                <a:ea typeface="Calibri" pitchFamily="34" charset="-122"/>
                <a:cs typeface="Calibri" pitchFamily="34" charset="-120"/>
              </a:rPr>
              <a:t>Migration pathway off REDCap (Eddie has opinions, no access)</a:t>
            </a:r>
            <a:endParaRPr lang="en-US" sz="1500" dirty="0"/>
          </a:p>
          <a:p>
            <a:pPr marL="342900" indent="-342900">
              <a:spcAft>
                <a:spcPts val="800"/>
              </a:spcAft>
              <a:buSzPct val="100000"/>
              <a:buChar char="•"/>
            </a:pPr>
            <a:r>
              <a:rPr lang="en-US" sz="1500" dirty="0">
                <a:solidFill>
                  <a:srgbClr val="262626"/>
                </a:solidFill>
                <a:latin typeface="Calibri" pitchFamily="34" charset="0"/>
                <a:ea typeface="Calibri" pitchFamily="34" charset="-122"/>
                <a:cs typeface="Calibri" pitchFamily="34" charset="-120"/>
              </a:rPr>
              <a:t>How Koan's build fits HealthX's AI architecture</a:t>
            </a:r>
            <a:endParaRPr lang="en-US" sz="1500" dirty="0"/>
          </a:p>
        </p:txBody>
      </p:sp>
      <p:sp>
        <p:nvSpPr>
          <p:cNvPr id="10" name="Text 8"/>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11" name="Text 9"/>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REDCap to HealthLake: the critical path</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Hand-built per registry. The method becomes repeatable; the mapping does not.</a:t>
            </a:r>
            <a:endParaRPr lang="en-US" sz="1400" dirty="0"/>
          </a:p>
        </p:txBody>
      </p:sp>
      <p:sp>
        <p:nvSpPr>
          <p:cNvPr id="4" name="Shape 2"/>
          <p:cNvSpPr/>
          <p:nvPr/>
        </p:nvSpPr>
        <p:spPr>
          <a:xfrm>
            <a:off x="457200" y="1645920"/>
            <a:ext cx="2194560" cy="731520"/>
          </a:xfrm>
          <a:prstGeom prst="chevron">
            <a:avLst/>
          </a:prstGeom>
          <a:solidFill>
            <a:srgbClr val="1F4E79"/>
          </a:solidFill>
          <a:ln w="25400">
            <a:solidFill>
              <a:srgbClr val="FFFFFF"/>
            </a:solidFill>
            <a:prstDash val="solid"/>
          </a:ln>
        </p:spPr>
        <p:txBody>
          <a:bodyPr/>
          <a:lstStyle/>
          <a:p>
            <a:endParaRPr lang="en-NZ"/>
          </a:p>
        </p:txBody>
      </p:sp>
      <p:sp>
        <p:nvSpPr>
          <p:cNvPr id="5" name="Text 3"/>
          <p:cNvSpPr txBox="1"/>
          <p:nvPr/>
        </p:nvSpPr>
        <p:spPr>
          <a:xfrm>
            <a:off x="640080" y="1645920"/>
            <a:ext cx="182880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457200" y="2560320"/>
            <a:ext cx="2194560" cy="411480"/>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Extract</a:t>
            </a:r>
            <a:endParaRPr lang="en-US" sz="1600" dirty="0"/>
          </a:p>
        </p:txBody>
      </p:sp>
      <p:sp>
        <p:nvSpPr>
          <p:cNvPr id="7" name="Text 5"/>
          <p:cNvSpPr txBox="1"/>
          <p:nvPr/>
        </p:nvSpPr>
        <p:spPr>
          <a:xfrm>
            <a:off x="457200" y="2971800"/>
            <a:ext cx="2103120" cy="146304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Pull records and form metadata from each REDCap project. Koan needs access; Eddie has none.</a:t>
            </a:r>
            <a:endParaRPr lang="en-US" sz="1250" dirty="0"/>
          </a:p>
        </p:txBody>
      </p:sp>
      <p:sp>
        <p:nvSpPr>
          <p:cNvPr id="8" name="Shape 6"/>
          <p:cNvSpPr/>
          <p:nvPr/>
        </p:nvSpPr>
        <p:spPr>
          <a:xfrm>
            <a:off x="2743200" y="1645920"/>
            <a:ext cx="2194560" cy="731520"/>
          </a:xfrm>
          <a:prstGeom prst="chevron">
            <a:avLst/>
          </a:prstGeom>
          <a:solidFill>
            <a:srgbClr val="C55A11"/>
          </a:solidFill>
          <a:ln w="25400">
            <a:solidFill>
              <a:srgbClr val="FFFFFF"/>
            </a:solidFill>
            <a:prstDash val="solid"/>
          </a:ln>
        </p:spPr>
        <p:txBody>
          <a:bodyPr/>
          <a:lstStyle/>
          <a:p>
            <a:endParaRPr lang="en-NZ"/>
          </a:p>
        </p:txBody>
      </p:sp>
      <p:sp>
        <p:nvSpPr>
          <p:cNvPr id="9" name="Text 7"/>
          <p:cNvSpPr txBox="1"/>
          <p:nvPr/>
        </p:nvSpPr>
        <p:spPr>
          <a:xfrm>
            <a:off x="2926080" y="1645920"/>
            <a:ext cx="182880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2743200" y="2560320"/>
            <a:ext cx="2194560" cy="411480"/>
          </a:xfrm>
          <a:prstGeom prst="rect">
            <a:avLst/>
          </a:prstGeom>
          <a:noFill/>
          <a:ln/>
        </p:spPr>
        <p:txBody>
          <a:bodyPr wrap="square" lIns="0" tIns="0" rIns="0" bIns="0" rtlCol="0" anchor="ctr"/>
          <a:lstStyle/>
          <a:p>
            <a:pPr marL="0" indent="0">
              <a:buNone/>
            </a:pPr>
            <a:r>
              <a:rPr lang="en-US" sz="1600" b="1" dirty="0">
                <a:solidFill>
                  <a:srgbClr val="C55A11"/>
                </a:solidFill>
                <a:latin typeface="Calibri" pitchFamily="34" charset="0"/>
                <a:ea typeface="Calibri" pitchFamily="34" charset="-122"/>
                <a:cs typeface="Calibri" pitchFamily="34" charset="-120"/>
              </a:rPr>
              <a:t>Agree concepts</a:t>
            </a:r>
            <a:endParaRPr lang="en-US" sz="1600" dirty="0"/>
          </a:p>
        </p:txBody>
      </p:sp>
      <p:sp>
        <p:nvSpPr>
          <p:cNvPr id="11" name="Text 9"/>
          <p:cNvSpPr txBox="1"/>
          <p:nvPr/>
        </p:nvSpPr>
        <p:spPr>
          <a:xfrm>
            <a:off x="2743200" y="2971800"/>
            <a:ext cx="2103120" cy="146304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Each clinical team agrees how fields and values map to SNOMED CT. Clinical decision, not technical.</a:t>
            </a:r>
            <a:endParaRPr lang="en-US" sz="1250" dirty="0"/>
          </a:p>
        </p:txBody>
      </p:sp>
      <p:sp>
        <p:nvSpPr>
          <p:cNvPr id="12" name="Shape 10"/>
          <p:cNvSpPr/>
          <p:nvPr/>
        </p:nvSpPr>
        <p:spPr>
          <a:xfrm>
            <a:off x="5029200" y="1645920"/>
            <a:ext cx="2194560" cy="731520"/>
          </a:xfrm>
          <a:prstGeom prst="chevron">
            <a:avLst/>
          </a:prstGeom>
          <a:solidFill>
            <a:srgbClr val="1F4E79"/>
          </a:solidFill>
          <a:ln w="25400">
            <a:solidFill>
              <a:srgbClr val="FFFFFF"/>
            </a:solidFill>
            <a:prstDash val="solid"/>
          </a:ln>
        </p:spPr>
        <p:txBody>
          <a:bodyPr/>
          <a:lstStyle/>
          <a:p>
            <a:endParaRPr lang="en-NZ"/>
          </a:p>
        </p:txBody>
      </p:sp>
      <p:sp>
        <p:nvSpPr>
          <p:cNvPr id="13" name="Text 11"/>
          <p:cNvSpPr txBox="1"/>
          <p:nvPr/>
        </p:nvSpPr>
        <p:spPr>
          <a:xfrm>
            <a:off x="5212080" y="1645920"/>
            <a:ext cx="182880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5029200" y="2560320"/>
            <a:ext cx="2194560" cy="411480"/>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Design mapping</a:t>
            </a:r>
            <a:endParaRPr lang="en-US" sz="1600" dirty="0"/>
          </a:p>
        </p:txBody>
      </p:sp>
      <p:sp>
        <p:nvSpPr>
          <p:cNvPr id="15" name="Text 13"/>
          <p:cNvSpPr txBox="1"/>
          <p:nvPr/>
        </p:nvSpPr>
        <p:spPr>
          <a:xfrm>
            <a:off x="5029200" y="2971800"/>
            <a:ext cx="2103120" cy="146304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Which FHIR resources each form and field becomes. Condition, Observation, Procedure, Encounter, Questionnaire.</a:t>
            </a:r>
            <a:endParaRPr lang="en-US" sz="1250" dirty="0"/>
          </a:p>
        </p:txBody>
      </p:sp>
      <p:sp>
        <p:nvSpPr>
          <p:cNvPr id="16" name="Shape 14"/>
          <p:cNvSpPr/>
          <p:nvPr/>
        </p:nvSpPr>
        <p:spPr>
          <a:xfrm>
            <a:off x="7315200" y="1645920"/>
            <a:ext cx="2194560" cy="731520"/>
          </a:xfrm>
          <a:prstGeom prst="chevron">
            <a:avLst/>
          </a:prstGeom>
          <a:solidFill>
            <a:srgbClr val="1F4E79"/>
          </a:solidFill>
          <a:ln w="25400">
            <a:solidFill>
              <a:srgbClr val="FFFFFF"/>
            </a:solidFill>
            <a:prstDash val="solid"/>
          </a:ln>
        </p:spPr>
        <p:txBody>
          <a:bodyPr/>
          <a:lstStyle/>
          <a:p>
            <a:endParaRPr lang="en-NZ"/>
          </a:p>
        </p:txBody>
      </p:sp>
      <p:sp>
        <p:nvSpPr>
          <p:cNvPr id="17" name="Text 15"/>
          <p:cNvSpPr txBox="1"/>
          <p:nvPr/>
        </p:nvSpPr>
        <p:spPr>
          <a:xfrm>
            <a:off x="7498080" y="1645920"/>
            <a:ext cx="182880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txBox="1"/>
          <p:nvPr/>
        </p:nvSpPr>
        <p:spPr>
          <a:xfrm>
            <a:off x="7315200" y="2560320"/>
            <a:ext cx="2194560" cy="411480"/>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Load</a:t>
            </a:r>
            <a:endParaRPr lang="en-US" sz="1600" dirty="0"/>
          </a:p>
        </p:txBody>
      </p:sp>
      <p:sp>
        <p:nvSpPr>
          <p:cNvPr id="19" name="Text 17"/>
          <p:cNvSpPr txBox="1"/>
          <p:nvPr/>
        </p:nvSpPr>
        <p:spPr>
          <a:xfrm>
            <a:off x="7315200" y="2971800"/>
            <a:ext cx="2103120" cy="146304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Write FHIR JSON into HealthLake, linking to existing Patient, Practitioner and Medication resources.</a:t>
            </a:r>
            <a:endParaRPr lang="en-US" sz="1250" dirty="0"/>
          </a:p>
        </p:txBody>
      </p:sp>
      <p:sp>
        <p:nvSpPr>
          <p:cNvPr id="20" name="Shape 18"/>
          <p:cNvSpPr/>
          <p:nvPr/>
        </p:nvSpPr>
        <p:spPr>
          <a:xfrm>
            <a:off x="9601200" y="1645920"/>
            <a:ext cx="2194560" cy="731520"/>
          </a:xfrm>
          <a:prstGeom prst="chevron">
            <a:avLst/>
          </a:prstGeom>
          <a:solidFill>
            <a:srgbClr val="1F4E79"/>
          </a:solidFill>
          <a:ln w="25400">
            <a:solidFill>
              <a:srgbClr val="FFFFFF"/>
            </a:solidFill>
            <a:prstDash val="solid"/>
          </a:ln>
        </p:spPr>
        <p:txBody>
          <a:bodyPr/>
          <a:lstStyle/>
          <a:p>
            <a:endParaRPr lang="en-NZ"/>
          </a:p>
        </p:txBody>
      </p:sp>
      <p:sp>
        <p:nvSpPr>
          <p:cNvPr id="21" name="Text 19"/>
          <p:cNvSpPr txBox="1"/>
          <p:nvPr/>
        </p:nvSpPr>
        <p:spPr>
          <a:xfrm>
            <a:off x="9784080" y="1645920"/>
            <a:ext cx="182880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2" name="Text 20"/>
          <p:cNvSpPr txBox="1"/>
          <p:nvPr/>
        </p:nvSpPr>
        <p:spPr>
          <a:xfrm>
            <a:off x="9601200" y="2560320"/>
            <a:ext cx="2194560" cy="411480"/>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Rebuild and switch</a:t>
            </a:r>
            <a:endParaRPr lang="en-US" sz="1600" dirty="0"/>
          </a:p>
        </p:txBody>
      </p:sp>
      <p:sp>
        <p:nvSpPr>
          <p:cNvPr id="23" name="Text 21"/>
          <p:cNvSpPr txBox="1"/>
          <p:nvPr/>
        </p:nvSpPr>
        <p:spPr>
          <a:xfrm>
            <a:off x="9601200" y="2971800"/>
            <a:ext cx="2103120" cy="146304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Recreate forms and pathway in the FLOW layer, move the team off REDCap. Ongoing capture writes to HealthLake.</a:t>
            </a:r>
            <a:endParaRPr lang="en-US" sz="1250" dirty="0"/>
          </a:p>
        </p:txBody>
      </p:sp>
      <p:sp>
        <p:nvSpPr>
          <p:cNvPr id="24" name="Shape 22"/>
          <p:cNvSpPr/>
          <p:nvPr/>
        </p:nvSpPr>
        <p:spPr>
          <a:xfrm>
            <a:off x="457200" y="4663440"/>
            <a:ext cx="11247120" cy="1371600"/>
          </a:xfrm>
          <a:prstGeom prst="roundRect">
            <a:avLst>
              <a:gd name="adj" fmla="val 5333"/>
            </a:avLst>
          </a:prstGeom>
          <a:solidFill>
            <a:srgbClr val="FDF1E7"/>
          </a:solidFill>
          <a:ln w="12700">
            <a:solidFill>
              <a:srgbClr val="FDF1E7"/>
            </a:solidFill>
            <a:prstDash val="solid"/>
          </a:ln>
        </p:spPr>
        <p:txBody>
          <a:bodyPr/>
          <a:lstStyle/>
          <a:p>
            <a:endParaRPr lang="en-NZ"/>
          </a:p>
        </p:txBody>
      </p:sp>
      <p:sp>
        <p:nvSpPr>
          <p:cNvPr id="25" name="Shape 23"/>
          <p:cNvSpPr/>
          <p:nvPr/>
        </p:nvSpPr>
        <p:spPr>
          <a:xfrm>
            <a:off x="685800" y="4892040"/>
            <a:ext cx="502920" cy="502920"/>
          </a:xfrm>
          <a:prstGeom prst="ellipse">
            <a:avLst/>
          </a:prstGeom>
          <a:solidFill>
            <a:srgbClr val="FFFFFF"/>
          </a:solidFill>
          <a:ln w="12700">
            <a:solidFill>
              <a:srgbClr val="FFFFFF"/>
            </a:solidFill>
            <a:prstDash val="solid"/>
          </a:ln>
        </p:spPr>
        <p:txBody>
          <a:bodyPr/>
          <a:lstStyle/>
          <a:p>
            <a:endParaRPr lang="en-NZ"/>
          </a:p>
        </p:txBody>
      </p:sp>
      <p:pic>
        <p:nvPicPr>
          <p:cNvPr id="26" name="Image 0" descr="preencoded.png"/>
          <p:cNvPicPr>
            <a:picLocks noChangeAspect="1"/>
          </p:cNvPicPr>
          <p:nvPr/>
        </p:nvPicPr>
        <p:blipFill>
          <a:blip r:embed="rId3"/>
          <a:stretch>
            <a:fillRect/>
          </a:stretch>
        </p:blipFill>
        <p:spPr>
          <a:xfrm>
            <a:off x="796442" y="5002682"/>
            <a:ext cx="281635" cy="281635"/>
          </a:xfrm>
          <a:prstGeom prst="rect">
            <a:avLst/>
          </a:prstGeom>
        </p:spPr>
      </p:pic>
      <p:sp>
        <p:nvSpPr>
          <p:cNvPr id="27" name="Text 24"/>
          <p:cNvSpPr txBox="1"/>
          <p:nvPr/>
        </p:nvSpPr>
        <p:spPr>
          <a:xfrm>
            <a:off x="1371600" y="4754880"/>
            <a:ext cx="10149840" cy="1188720"/>
          </a:xfrm>
          <a:prstGeom prst="rect">
            <a:avLst/>
          </a:prstGeom>
          <a:noFill/>
          <a:ln/>
        </p:spPr>
        <p:txBody>
          <a:bodyPr wrap="square" lIns="0" tIns="0" rIns="0" bIns="0" rtlCol="0" anchor="ctr"/>
          <a:lstStyle/>
          <a:p>
            <a:pPr marL="0" indent="0">
              <a:buNone/>
            </a:pPr>
            <a:r>
              <a:rPr lang="en-US" sz="1350" b="1" dirty="0">
                <a:solidFill>
                  <a:srgbClr val="C55A11"/>
                </a:solidFill>
                <a:latin typeface="Calibri" pitchFamily="34" charset="0"/>
                <a:ea typeface="Calibri" pitchFamily="34" charset="-122"/>
                <a:cs typeface="Calibri" pitchFamily="34" charset="-120"/>
              </a:rPr>
              <a:t>Step 2 is the schedule risk. </a:t>
            </a:r>
            <a:r>
              <a:rPr lang="en-US" sz="1350" dirty="0">
                <a:solidFill>
                  <a:srgbClr val="262626"/>
                </a:solidFill>
                <a:latin typeface="Calibri" pitchFamily="34" charset="0"/>
                <a:ea typeface="Calibri" pitchFamily="34" charset="-122"/>
                <a:cs typeface="Calibri" pitchFamily="34" charset="-120"/>
              </a:rPr>
              <a:t>Five registries means five clinical teams agreeing SNOMED mappings inside three months. Pick registries with engaged owners and simple data, get Heath to broker access in the first fortnight, and run discoveries in parallel. If a registry touches cancer, ICD-O-3 coding and the Deloitte cancer-register stream both come into play.</a:t>
            </a:r>
            <a:endParaRPr lang="en-US" sz="1350" dirty="0"/>
          </a:p>
        </p:txBody>
      </p:sp>
      <p:sp>
        <p:nvSpPr>
          <p:cNvPr id="28" name="Text 25"/>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29" name="Text 26"/>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Proposed proof of concept</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POC to pilot. Scope to what proves the pattern, not to a finished product.</a:t>
            </a:r>
            <a:endParaRPr lang="en-US" sz="1400" dirty="0"/>
          </a:p>
        </p:txBody>
      </p:sp>
      <p:sp>
        <p:nvSpPr>
          <p:cNvPr id="4" name="Shape 2"/>
          <p:cNvSpPr/>
          <p:nvPr/>
        </p:nvSpPr>
        <p:spPr>
          <a:xfrm>
            <a:off x="457200" y="155448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5" name="Shape 3"/>
          <p:cNvSpPr/>
          <p:nvPr/>
        </p:nvSpPr>
        <p:spPr>
          <a:xfrm>
            <a:off x="685800" y="178308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796442" y="1893722"/>
            <a:ext cx="281635" cy="281635"/>
          </a:xfrm>
          <a:prstGeom prst="rect">
            <a:avLst/>
          </a:prstGeom>
        </p:spPr>
      </p:pic>
      <p:sp>
        <p:nvSpPr>
          <p:cNvPr id="7" name="Text 4"/>
          <p:cNvSpPr txBox="1"/>
          <p:nvPr/>
        </p:nvSpPr>
        <p:spPr>
          <a:xfrm>
            <a:off x="1371600" y="178308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Scope</a:t>
            </a:r>
            <a:endParaRPr lang="en-US" sz="1800" dirty="0"/>
          </a:p>
        </p:txBody>
      </p:sp>
      <p:sp>
        <p:nvSpPr>
          <p:cNvPr id="8" name="Text 5"/>
          <p:cNvSpPr txBox="1"/>
          <p:nvPr/>
        </p:nvSpPr>
        <p:spPr>
          <a:xfrm>
            <a:off x="685800" y="2423160"/>
            <a:ext cx="5074920" cy="11430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Five REDCap registries chosen with Heath and the REDCap user group. Discovery, mapping, migration, and a working registry with pathway and forms on FLOW. Connect and agentic Bedrock features out of scope.</a:t>
            </a:r>
            <a:endParaRPr lang="en-US" sz="1300" dirty="0"/>
          </a:p>
        </p:txBody>
      </p:sp>
      <p:sp>
        <p:nvSpPr>
          <p:cNvPr id="9" name="Shape 6"/>
          <p:cNvSpPr/>
          <p:nvPr/>
        </p:nvSpPr>
        <p:spPr>
          <a:xfrm>
            <a:off x="6172200" y="155448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10" name="Shape 7"/>
          <p:cNvSpPr/>
          <p:nvPr/>
        </p:nvSpPr>
        <p:spPr>
          <a:xfrm>
            <a:off x="6400800" y="178308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6511442" y="1893722"/>
            <a:ext cx="281635" cy="281635"/>
          </a:xfrm>
          <a:prstGeom prst="rect">
            <a:avLst/>
          </a:prstGeom>
        </p:spPr>
      </p:pic>
      <p:sp>
        <p:nvSpPr>
          <p:cNvPr id="12" name="Text 8"/>
          <p:cNvSpPr txBox="1"/>
          <p:nvPr/>
        </p:nvSpPr>
        <p:spPr>
          <a:xfrm>
            <a:off x="7086600" y="178308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Timeline</a:t>
            </a:r>
            <a:endParaRPr lang="en-US" sz="1800" dirty="0"/>
          </a:p>
        </p:txBody>
      </p:sp>
      <p:sp>
        <p:nvSpPr>
          <p:cNvPr id="13" name="Text 9"/>
          <p:cNvSpPr txBox="1"/>
          <p:nvPr/>
        </p:nvSpPr>
        <p:spPr>
          <a:xfrm>
            <a:off x="6400800" y="2423160"/>
            <a:ext cx="5074920" cy="11430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Proven before Christmas 2026. Suggested shape: one registry fully migrated and live, four mapped and loaded. Agree the definition of "proven" with Heath before starting.</a:t>
            </a:r>
            <a:endParaRPr lang="en-US" sz="1300" dirty="0"/>
          </a:p>
        </p:txBody>
      </p:sp>
      <p:sp>
        <p:nvSpPr>
          <p:cNvPr id="14" name="Shape 10"/>
          <p:cNvSpPr/>
          <p:nvPr/>
        </p:nvSpPr>
        <p:spPr>
          <a:xfrm>
            <a:off x="457200" y="388620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15" name="Shape 11"/>
          <p:cNvSpPr/>
          <p:nvPr/>
        </p:nvSpPr>
        <p:spPr>
          <a:xfrm>
            <a:off x="685800" y="411480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796442" y="4225442"/>
            <a:ext cx="281635" cy="281635"/>
          </a:xfrm>
          <a:prstGeom prst="rect">
            <a:avLst/>
          </a:prstGeom>
        </p:spPr>
      </p:pic>
      <p:sp>
        <p:nvSpPr>
          <p:cNvPr id="17" name="Text 12"/>
          <p:cNvSpPr txBox="1"/>
          <p:nvPr/>
        </p:nvSpPr>
        <p:spPr>
          <a:xfrm>
            <a:off x="1371600" y="411480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Roles</a:t>
            </a:r>
            <a:endParaRPr lang="en-US" sz="1800" dirty="0"/>
          </a:p>
        </p:txBody>
      </p:sp>
      <p:sp>
        <p:nvSpPr>
          <p:cNvPr id="18" name="Text 13"/>
          <p:cNvSpPr txBox="1"/>
          <p:nvPr/>
        </p:nvSpPr>
        <p:spPr>
          <a:xfrm>
            <a:off x="685800" y="4754880"/>
            <a:ext cx="5074920" cy="11430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Koan owns delivery. Eddie provides the pattern, spec files and content, and reviews. Craig helps scope AWS services and reviews design. Heath brokers clinical access and sponsors.</a:t>
            </a:r>
            <a:endParaRPr lang="en-US" sz="1300" dirty="0"/>
          </a:p>
        </p:txBody>
      </p:sp>
      <p:sp>
        <p:nvSpPr>
          <p:cNvPr id="19" name="Shape 14"/>
          <p:cNvSpPr/>
          <p:nvPr/>
        </p:nvSpPr>
        <p:spPr>
          <a:xfrm>
            <a:off x="6172200" y="3886200"/>
            <a:ext cx="5532120" cy="2103120"/>
          </a:xfrm>
          <a:prstGeom prst="roundRect">
            <a:avLst>
              <a:gd name="adj" fmla="val 3478"/>
            </a:avLst>
          </a:prstGeom>
          <a:solidFill>
            <a:srgbClr val="EAF1F8"/>
          </a:solidFill>
          <a:ln w="12700">
            <a:solidFill>
              <a:srgbClr val="EAF1F8"/>
            </a:solidFill>
            <a:prstDash val="solid"/>
          </a:ln>
        </p:spPr>
        <p:txBody>
          <a:bodyPr/>
          <a:lstStyle/>
          <a:p>
            <a:endParaRPr lang="en-NZ"/>
          </a:p>
        </p:txBody>
      </p:sp>
      <p:sp>
        <p:nvSpPr>
          <p:cNvPr id="20" name="Shape 15"/>
          <p:cNvSpPr/>
          <p:nvPr/>
        </p:nvSpPr>
        <p:spPr>
          <a:xfrm>
            <a:off x="6400800" y="4114800"/>
            <a:ext cx="502920" cy="502920"/>
          </a:xfrm>
          <a:prstGeom prst="ellipse">
            <a:avLst/>
          </a:prstGeom>
          <a:solidFill>
            <a:srgbClr val="1F4E79"/>
          </a:solidFill>
          <a:ln w="12700">
            <a:solidFill>
              <a:srgbClr val="1F4E79"/>
            </a:solidFill>
            <a:prstDash val="solid"/>
          </a:ln>
        </p:spPr>
        <p:txBody>
          <a:bodyPr/>
          <a:lstStyle/>
          <a:p>
            <a:endParaRPr lang="en-NZ"/>
          </a:p>
        </p:txBody>
      </p:sp>
      <p:pic>
        <p:nvPicPr>
          <p:cNvPr id="21" name="Image 3" descr="preencoded.png"/>
          <p:cNvPicPr>
            <a:picLocks noChangeAspect="1"/>
          </p:cNvPicPr>
          <p:nvPr/>
        </p:nvPicPr>
        <p:blipFill>
          <a:blip r:embed="rId6"/>
          <a:stretch>
            <a:fillRect/>
          </a:stretch>
        </p:blipFill>
        <p:spPr>
          <a:xfrm>
            <a:off x="6511442" y="4225442"/>
            <a:ext cx="281635" cy="281635"/>
          </a:xfrm>
          <a:prstGeom prst="rect">
            <a:avLst/>
          </a:prstGeom>
        </p:spPr>
      </p:pic>
      <p:sp>
        <p:nvSpPr>
          <p:cNvPr id="22" name="Text 16"/>
          <p:cNvSpPr txBox="1"/>
          <p:nvPr/>
        </p:nvSpPr>
        <p:spPr>
          <a:xfrm>
            <a:off x="7086600" y="4114800"/>
            <a:ext cx="4480560" cy="50292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Starting position</a:t>
            </a:r>
            <a:endParaRPr lang="en-US" sz="1800" dirty="0"/>
          </a:p>
        </p:txBody>
      </p:sp>
      <p:sp>
        <p:nvSpPr>
          <p:cNvPr id="23" name="Text 17"/>
          <p:cNvSpPr txBox="1"/>
          <p:nvPr/>
        </p:nvSpPr>
        <p:spPr>
          <a:xfrm>
            <a:off x="6400800" y="4754880"/>
            <a:ext cx="5074920" cy="11430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Architecture, demo, spec files and content from AWS. No demo code. Open source SDC implementations avoid building a forms engine. Koan's HSAAP Step Functions patterns reusable for pipelines.</a:t>
            </a:r>
            <a:endParaRPr lang="en-US" sz="1300" dirty="0"/>
          </a:p>
        </p:txBody>
      </p:sp>
      <p:sp>
        <p:nvSpPr>
          <p:cNvPr id="24" name="Text 18"/>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25" name="Text 19"/>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Funding and commercial</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AWS partner POC funding with Koan as partner of record. Customer money: none.</a:t>
            </a:r>
            <a:endParaRPr lang="en-US" sz="1400" dirty="0"/>
          </a:p>
        </p:txBody>
      </p:sp>
      <p:sp>
        <p:nvSpPr>
          <p:cNvPr id="4" name="Shape 2"/>
          <p:cNvSpPr/>
          <p:nvPr/>
        </p:nvSpPr>
        <p:spPr>
          <a:xfrm>
            <a:off x="548640" y="1554480"/>
            <a:ext cx="457200" cy="457200"/>
          </a:xfrm>
          <a:prstGeom prst="ellipse">
            <a:avLst/>
          </a:prstGeom>
          <a:solidFill>
            <a:srgbClr val="1F4E79"/>
          </a:solidFill>
          <a:ln w="12700">
            <a:solidFill>
              <a:srgbClr val="1F4E79"/>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649224" y="1655064"/>
            <a:ext cx="256032" cy="256032"/>
          </a:xfrm>
          <a:prstGeom prst="rect">
            <a:avLst/>
          </a:prstGeom>
        </p:spPr>
      </p:pic>
      <p:sp>
        <p:nvSpPr>
          <p:cNvPr id="6" name="Text 3"/>
          <p:cNvSpPr txBox="1"/>
          <p:nvPr/>
        </p:nvSpPr>
        <p:spPr>
          <a:xfrm>
            <a:off x="1234440" y="1508760"/>
            <a:ext cx="2194560" cy="45720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Mechanism</a:t>
            </a:r>
            <a:endParaRPr lang="en-US" sz="1700" dirty="0"/>
          </a:p>
        </p:txBody>
      </p:sp>
      <p:sp>
        <p:nvSpPr>
          <p:cNvPr id="7" name="Text 4"/>
          <p:cNvSpPr txBox="1"/>
          <p:nvPr/>
        </p:nvSpPr>
        <p:spPr>
          <a:xfrm>
            <a:off x="3474720" y="1463040"/>
            <a:ext cx="8229600" cy="109728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Partner Opportunity Acceleration (POA) funding. Koan registers the HNZ opportunity in ACE and submits the fund request. AWS cannot fund itself; ProServe is not funded for this.</a:t>
            </a:r>
            <a:endParaRPr lang="en-US" sz="1350" dirty="0"/>
          </a:p>
        </p:txBody>
      </p:sp>
      <p:sp>
        <p:nvSpPr>
          <p:cNvPr id="8" name="Shape 5"/>
          <p:cNvSpPr/>
          <p:nvPr/>
        </p:nvSpPr>
        <p:spPr>
          <a:xfrm>
            <a:off x="548640" y="2724912"/>
            <a:ext cx="457200" cy="457200"/>
          </a:xfrm>
          <a:prstGeom prst="ellipse">
            <a:avLst/>
          </a:prstGeom>
          <a:solidFill>
            <a:srgbClr val="1F4E79"/>
          </a:solidFill>
          <a:ln w="12700">
            <a:solidFill>
              <a:srgbClr val="1F4E79"/>
            </a:solidFill>
            <a:prstDash val="solid"/>
          </a:ln>
        </p:spPr>
        <p:txBody>
          <a:bodyPr/>
          <a:lstStyle/>
          <a:p>
            <a:endParaRPr lang="en-NZ"/>
          </a:p>
        </p:txBody>
      </p:sp>
      <p:pic>
        <p:nvPicPr>
          <p:cNvPr id="9" name="Image 1" descr="preencoded.png"/>
          <p:cNvPicPr>
            <a:picLocks noChangeAspect="1"/>
          </p:cNvPicPr>
          <p:nvPr/>
        </p:nvPicPr>
        <p:blipFill>
          <a:blip r:embed="rId3"/>
          <a:stretch>
            <a:fillRect/>
          </a:stretch>
        </p:blipFill>
        <p:spPr>
          <a:xfrm>
            <a:off x="649224" y="2825496"/>
            <a:ext cx="256032" cy="256032"/>
          </a:xfrm>
          <a:prstGeom prst="rect">
            <a:avLst/>
          </a:prstGeom>
        </p:spPr>
      </p:pic>
      <p:sp>
        <p:nvSpPr>
          <p:cNvPr id="10" name="Text 6"/>
          <p:cNvSpPr txBox="1"/>
          <p:nvPr/>
        </p:nvSpPr>
        <p:spPr>
          <a:xfrm>
            <a:off x="1234440" y="2679192"/>
            <a:ext cx="2194560" cy="45720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Sizing</a:t>
            </a:r>
            <a:endParaRPr lang="en-US" sz="1700" dirty="0"/>
          </a:p>
        </p:txBody>
      </p:sp>
      <p:sp>
        <p:nvSpPr>
          <p:cNvPr id="11" name="Text 7"/>
          <p:cNvSpPr txBox="1"/>
          <p:nvPr/>
        </p:nvSpPr>
        <p:spPr>
          <a:xfrm>
            <a:off x="3474720" y="2633472"/>
            <a:ext cx="8229600" cy="109728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Eddie quoted 15% of year-one platform ARR; Craig put consumption at 15 to 20k. The standard construct is about 10%, capped near US$25K. To be reconciled: roughly US$150K ARR is needed for US$15K of funding at 10%.</a:t>
            </a:r>
            <a:endParaRPr lang="en-US" sz="1350" dirty="0"/>
          </a:p>
        </p:txBody>
      </p:sp>
      <p:sp>
        <p:nvSpPr>
          <p:cNvPr id="12" name="Shape 8"/>
          <p:cNvSpPr/>
          <p:nvPr/>
        </p:nvSpPr>
        <p:spPr>
          <a:xfrm>
            <a:off x="548640" y="3895344"/>
            <a:ext cx="457200" cy="457200"/>
          </a:xfrm>
          <a:prstGeom prst="ellipse">
            <a:avLst/>
          </a:prstGeom>
          <a:solidFill>
            <a:srgbClr val="1F4E79"/>
          </a:solidFill>
          <a:ln w="12700">
            <a:solidFill>
              <a:srgbClr val="1F4E79"/>
            </a:solidFill>
            <a:prstDash val="solid"/>
          </a:ln>
        </p:spPr>
        <p:txBody>
          <a:bodyPr/>
          <a:lstStyle/>
          <a:p>
            <a:endParaRPr lang="en-NZ"/>
          </a:p>
        </p:txBody>
      </p:sp>
      <p:pic>
        <p:nvPicPr>
          <p:cNvPr id="13" name="Image 2" descr="preencoded.png"/>
          <p:cNvPicPr>
            <a:picLocks noChangeAspect="1"/>
          </p:cNvPicPr>
          <p:nvPr/>
        </p:nvPicPr>
        <p:blipFill>
          <a:blip r:embed="rId3"/>
          <a:stretch>
            <a:fillRect/>
          </a:stretch>
        </p:blipFill>
        <p:spPr>
          <a:xfrm>
            <a:off x="649224" y="3995928"/>
            <a:ext cx="256032" cy="256032"/>
          </a:xfrm>
          <a:prstGeom prst="rect">
            <a:avLst/>
          </a:prstGeom>
        </p:spPr>
      </p:pic>
      <p:sp>
        <p:nvSpPr>
          <p:cNvPr id="14" name="Text 9"/>
          <p:cNvSpPr txBox="1"/>
          <p:nvPr/>
        </p:nvSpPr>
        <p:spPr>
          <a:xfrm>
            <a:off x="1234440" y="3849624"/>
            <a:ext cx="2194560" cy="45720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Process</a:t>
            </a:r>
            <a:endParaRPr lang="en-US" sz="1700" dirty="0"/>
          </a:p>
        </p:txBody>
      </p:sp>
      <p:sp>
        <p:nvSpPr>
          <p:cNvPr id="15" name="Text 10"/>
          <p:cNvSpPr txBox="1"/>
          <p:nvPr/>
        </p:nvSpPr>
        <p:spPr>
          <a:xfrm>
            <a:off x="3474720" y="3803904"/>
            <a:ext cx="8229600" cy="109728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Scope AWS services (Craig), run the pricing calculator, write the SoW, submit the request. Credits and cash follow milestones via Payee Central. Ingram is Koan's channel if MAP funding is needed later.</a:t>
            </a:r>
            <a:endParaRPr lang="en-US" sz="1350" dirty="0"/>
          </a:p>
        </p:txBody>
      </p:sp>
      <p:sp>
        <p:nvSpPr>
          <p:cNvPr id="16" name="Shape 11"/>
          <p:cNvSpPr/>
          <p:nvPr/>
        </p:nvSpPr>
        <p:spPr>
          <a:xfrm>
            <a:off x="548640" y="5065776"/>
            <a:ext cx="457200" cy="457200"/>
          </a:xfrm>
          <a:prstGeom prst="ellipse">
            <a:avLst/>
          </a:prstGeom>
          <a:solidFill>
            <a:srgbClr val="1F4E79"/>
          </a:solidFill>
          <a:ln w="12700">
            <a:solidFill>
              <a:srgbClr val="1F4E79"/>
            </a:solidFill>
            <a:prstDash val="solid"/>
          </a:ln>
        </p:spPr>
        <p:txBody>
          <a:bodyPr/>
          <a:lstStyle/>
          <a:p>
            <a:endParaRPr lang="en-NZ"/>
          </a:p>
        </p:txBody>
      </p:sp>
      <p:pic>
        <p:nvPicPr>
          <p:cNvPr id="17" name="Image 3" descr="preencoded.png"/>
          <p:cNvPicPr>
            <a:picLocks noChangeAspect="1"/>
          </p:cNvPicPr>
          <p:nvPr/>
        </p:nvPicPr>
        <p:blipFill>
          <a:blip r:embed="rId3"/>
          <a:stretch>
            <a:fillRect/>
          </a:stretch>
        </p:blipFill>
        <p:spPr>
          <a:xfrm>
            <a:off x="649224" y="5166360"/>
            <a:ext cx="256032" cy="256032"/>
          </a:xfrm>
          <a:prstGeom prst="rect">
            <a:avLst/>
          </a:prstGeom>
        </p:spPr>
      </p:pic>
      <p:sp>
        <p:nvSpPr>
          <p:cNvPr id="18" name="Text 12"/>
          <p:cNvSpPr txBox="1"/>
          <p:nvPr/>
        </p:nvSpPr>
        <p:spPr>
          <a:xfrm>
            <a:off x="1234440" y="5020056"/>
            <a:ext cx="2194560" cy="457200"/>
          </a:xfrm>
          <a:prstGeom prst="rect">
            <a:avLst/>
          </a:prstGeom>
          <a:noFill/>
          <a:ln/>
        </p:spPr>
        <p:txBody>
          <a:bodyPr wrap="square" lIns="0" tIns="0" rIns="0" bIns="0" rtlCol="0" anchor="ctr"/>
          <a:lstStyle/>
          <a:p>
            <a:pPr marL="0" indent="0">
              <a:buNone/>
            </a:pPr>
            <a:r>
              <a:rPr lang="en-US" sz="1700" b="1" dirty="0">
                <a:solidFill>
                  <a:srgbClr val="1F4E79"/>
                </a:solidFill>
                <a:latin typeface="Calibri" pitchFamily="34" charset="0"/>
                <a:ea typeface="Calibri" pitchFamily="34" charset="-122"/>
                <a:cs typeface="Calibri" pitchFamily="34" charset="-120"/>
              </a:rPr>
              <a:t>Context</a:t>
            </a:r>
            <a:endParaRPr lang="en-US" sz="1700" dirty="0"/>
          </a:p>
        </p:txBody>
      </p:sp>
      <p:sp>
        <p:nvSpPr>
          <p:cNvPr id="19" name="Text 13"/>
          <p:cNvSpPr txBox="1"/>
          <p:nvPr/>
        </p:nvSpPr>
        <p:spPr>
          <a:xfrm>
            <a:off x="3474720" y="4974336"/>
            <a:ext cx="8229600" cy="1097280"/>
          </a:xfrm>
          <a:prstGeom prst="rect">
            <a:avLst/>
          </a:prstGeom>
          <a:noFill/>
          <a:ln/>
        </p:spPr>
        <p:txBody>
          <a:bodyPr wrap="square" lIns="0" tIns="0" rIns="0" bIns="0" rtlCol="0" anchor="t"/>
          <a:lstStyle/>
          <a:p>
            <a:pPr marL="0" indent="0">
              <a:buNone/>
            </a:pPr>
            <a:r>
              <a:rPr lang="en-US" sz="1350" dirty="0">
                <a:solidFill>
                  <a:srgbClr val="262626"/>
                </a:solidFill>
                <a:latin typeface="Calibri" pitchFamily="34" charset="0"/>
                <a:ea typeface="Calibri" pitchFamily="34" charset="-122"/>
                <a:cs typeface="Calibri" pitchFamily="34" charset="-120"/>
              </a:rPr>
              <a:t>Deloitte is in conversation with Eddie on cancer registers, not REDCap. AWS wants a global reference case (NHS, Australia). Heath has no budget and wants a partner to own it.</a:t>
            </a:r>
            <a:endParaRPr lang="en-US" sz="1350" dirty="0"/>
          </a:p>
        </p:txBody>
      </p:sp>
      <p:sp>
        <p:nvSpPr>
          <p:cNvPr id="20" name="Text 14"/>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21" name="Text 15"/>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Risks to manage before we start</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Flagged now so they are handled in the SoW, not discovered in December.</a:t>
            </a:r>
            <a:endParaRPr lang="en-US" sz="1400" dirty="0"/>
          </a:p>
        </p:txBody>
      </p:sp>
      <p:sp>
        <p:nvSpPr>
          <p:cNvPr id="4" name="Shape 2"/>
          <p:cNvSpPr/>
          <p:nvPr/>
        </p:nvSpPr>
        <p:spPr>
          <a:xfrm>
            <a:off x="457200" y="1554480"/>
            <a:ext cx="3611880" cy="2103120"/>
          </a:xfrm>
          <a:prstGeom prst="roundRect">
            <a:avLst>
              <a:gd name="adj" fmla="val 3478"/>
            </a:avLst>
          </a:prstGeom>
          <a:solidFill>
            <a:srgbClr val="F3F4F6"/>
          </a:solidFill>
          <a:ln w="12700">
            <a:solidFill>
              <a:srgbClr val="F3F4F6"/>
            </a:solidFill>
            <a:prstDash val="solid"/>
          </a:ln>
        </p:spPr>
        <p:txBody>
          <a:bodyPr/>
          <a:lstStyle/>
          <a:p>
            <a:endParaRPr lang="en-NZ"/>
          </a:p>
        </p:txBody>
      </p:sp>
      <p:sp>
        <p:nvSpPr>
          <p:cNvPr id="5" name="Shape 3"/>
          <p:cNvSpPr/>
          <p:nvPr/>
        </p:nvSpPr>
        <p:spPr>
          <a:xfrm>
            <a:off x="685800" y="1783080"/>
            <a:ext cx="457200" cy="457200"/>
          </a:xfrm>
          <a:prstGeom prst="ellipse">
            <a:avLst/>
          </a:prstGeom>
          <a:solidFill>
            <a:srgbClr val="FFFFFF"/>
          </a:solidFill>
          <a:ln w="12700">
            <a:solidFill>
              <a:srgbClr val="FFFFFF"/>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786384" y="1883664"/>
            <a:ext cx="256032" cy="256032"/>
          </a:xfrm>
          <a:prstGeom prst="rect">
            <a:avLst/>
          </a:prstGeom>
        </p:spPr>
      </p:pic>
      <p:sp>
        <p:nvSpPr>
          <p:cNvPr id="7" name="Text 4"/>
          <p:cNvSpPr txBox="1"/>
          <p:nvPr/>
        </p:nvSpPr>
        <p:spPr>
          <a:xfrm>
            <a:off x="1280160" y="1755648"/>
            <a:ext cx="2651760" cy="502920"/>
          </a:xfrm>
          <a:prstGeom prst="rect">
            <a:avLst/>
          </a:prstGeom>
          <a:noFill/>
          <a:ln/>
        </p:spPr>
        <p:txBody>
          <a:bodyPr wrap="square" lIns="0" tIns="0" rIns="0" bIns="0" rtlCol="0" anchor="ctr"/>
          <a:lstStyle/>
          <a:p>
            <a:pPr marL="0" indent="0">
              <a:buNone/>
            </a:pPr>
            <a:r>
              <a:rPr lang="en-US" sz="1500" b="1" dirty="0">
                <a:solidFill>
                  <a:srgbClr val="C55A11"/>
                </a:solidFill>
                <a:latin typeface="Calibri" pitchFamily="34" charset="0"/>
                <a:ea typeface="Calibri" pitchFamily="34" charset="-122"/>
                <a:cs typeface="Calibri" pitchFamily="34" charset="-120"/>
              </a:rPr>
              <a:t>Funding not confirmed</a:t>
            </a:r>
            <a:endParaRPr lang="en-US" sz="1500" dirty="0"/>
          </a:p>
        </p:txBody>
      </p:sp>
      <p:sp>
        <p:nvSpPr>
          <p:cNvPr id="8" name="Text 5"/>
          <p:cNvSpPr txBox="1"/>
          <p:nvPr/>
        </p:nvSpPr>
        <p:spPr>
          <a:xfrm>
            <a:off x="685800" y="2423160"/>
            <a:ext cx="3154680" cy="114300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Treat as gating. Agree ARR basis and amount with Eddie and Craig. No unfunded build.</a:t>
            </a:r>
            <a:endParaRPr lang="en-US" sz="1250" dirty="0"/>
          </a:p>
        </p:txBody>
      </p:sp>
      <p:sp>
        <p:nvSpPr>
          <p:cNvPr id="9" name="Shape 6"/>
          <p:cNvSpPr/>
          <p:nvPr/>
        </p:nvSpPr>
        <p:spPr>
          <a:xfrm>
            <a:off x="4251960" y="1554480"/>
            <a:ext cx="3611880" cy="2103120"/>
          </a:xfrm>
          <a:prstGeom prst="roundRect">
            <a:avLst>
              <a:gd name="adj" fmla="val 3478"/>
            </a:avLst>
          </a:prstGeom>
          <a:solidFill>
            <a:srgbClr val="F3F4F6"/>
          </a:solidFill>
          <a:ln w="12700">
            <a:solidFill>
              <a:srgbClr val="F3F4F6"/>
            </a:solidFill>
            <a:prstDash val="solid"/>
          </a:ln>
        </p:spPr>
        <p:txBody>
          <a:bodyPr/>
          <a:lstStyle/>
          <a:p>
            <a:endParaRPr lang="en-NZ"/>
          </a:p>
        </p:txBody>
      </p:sp>
      <p:sp>
        <p:nvSpPr>
          <p:cNvPr id="10" name="Shape 7"/>
          <p:cNvSpPr/>
          <p:nvPr/>
        </p:nvSpPr>
        <p:spPr>
          <a:xfrm>
            <a:off x="4480560" y="1783080"/>
            <a:ext cx="457200" cy="457200"/>
          </a:xfrm>
          <a:prstGeom prst="ellipse">
            <a:avLst/>
          </a:prstGeom>
          <a:solidFill>
            <a:srgbClr val="FFFFFF"/>
          </a:solidFill>
          <a:ln w="12700">
            <a:solidFill>
              <a:srgbClr val="FFFFFF"/>
            </a:solidFill>
            <a:prstDash val="solid"/>
          </a:ln>
        </p:spPr>
        <p:txBody>
          <a:bodyPr/>
          <a:lstStyle/>
          <a:p>
            <a:endParaRPr lang="en-NZ"/>
          </a:p>
        </p:txBody>
      </p:sp>
      <p:pic>
        <p:nvPicPr>
          <p:cNvPr id="11" name="Image 1" descr="preencoded.png"/>
          <p:cNvPicPr>
            <a:picLocks noChangeAspect="1"/>
          </p:cNvPicPr>
          <p:nvPr/>
        </p:nvPicPr>
        <p:blipFill>
          <a:blip r:embed="rId3"/>
          <a:stretch>
            <a:fillRect/>
          </a:stretch>
        </p:blipFill>
        <p:spPr>
          <a:xfrm>
            <a:off x="4581144" y="1883664"/>
            <a:ext cx="256032" cy="256032"/>
          </a:xfrm>
          <a:prstGeom prst="rect">
            <a:avLst/>
          </a:prstGeom>
        </p:spPr>
      </p:pic>
      <p:sp>
        <p:nvSpPr>
          <p:cNvPr id="12" name="Text 8"/>
          <p:cNvSpPr txBox="1"/>
          <p:nvPr/>
        </p:nvSpPr>
        <p:spPr>
          <a:xfrm>
            <a:off x="5074920" y="1755648"/>
            <a:ext cx="2651760" cy="502920"/>
          </a:xfrm>
          <a:prstGeom prst="rect">
            <a:avLst/>
          </a:prstGeom>
          <a:noFill/>
          <a:ln/>
        </p:spPr>
        <p:txBody>
          <a:bodyPr wrap="square" lIns="0" tIns="0" rIns="0" bIns="0" rtlCol="0" anchor="ctr"/>
          <a:lstStyle/>
          <a:p>
            <a:pPr marL="0" indent="0">
              <a:buNone/>
            </a:pPr>
            <a:r>
              <a:rPr lang="en-US" sz="1500" b="1" dirty="0">
                <a:solidFill>
                  <a:srgbClr val="C55A11"/>
                </a:solidFill>
                <a:latin typeface="Calibri" pitchFamily="34" charset="0"/>
                <a:ea typeface="Calibri" pitchFamily="34" charset="-122"/>
                <a:cs typeface="Calibri" pitchFamily="34" charset="-120"/>
              </a:rPr>
              <a:t>Probity and procurement</a:t>
            </a:r>
            <a:endParaRPr lang="en-US" sz="1500" dirty="0"/>
          </a:p>
        </p:txBody>
      </p:sp>
      <p:sp>
        <p:nvSpPr>
          <p:cNvPr id="13" name="Text 9"/>
          <p:cNvSpPr txBox="1"/>
          <p:nvPr/>
        </p:nvSpPr>
        <p:spPr>
          <a:xfrm>
            <a:off x="4480560" y="2423160"/>
            <a:ext cx="3154680" cy="114300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AWS-funded POC, AWS-chosen partner, pre-built solution. Contract under the Panel MSA as a zero-dollar SoW with HealthX sponsorship and a no-preference statement.</a:t>
            </a:r>
            <a:endParaRPr lang="en-US" sz="1250" dirty="0"/>
          </a:p>
        </p:txBody>
      </p:sp>
      <p:sp>
        <p:nvSpPr>
          <p:cNvPr id="14" name="Shape 10"/>
          <p:cNvSpPr/>
          <p:nvPr/>
        </p:nvSpPr>
        <p:spPr>
          <a:xfrm>
            <a:off x="8046720" y="1554480"/>
            <a:ext cx="3611880" cy="2103120"/>
          </a:xfrm>
          <a:prstGeom prst="roundRect">
            <a:avLst>
              <a:gd name="adj" fmla="val 3478"/>
            </a:avLst>
          </a:prstGeom>
          <a:solidFill>
            <a:srgbClr val="F3F4F6"/>
          </a:solidFill>
          <a:ln w="12700">
            <a:solidFill>
              <a:srgbClr val="F3F4F6"/>
            </a:solidFill>
            <a:prstDash val="solid"/>
          </a:ln>
        </p:spPr>
        <p:txBody>
          <a:bodyPr/>
          <a:lstStyle/>
          <a:p>
            <a:endParaRPr lang="en-NZ"/>
          </a:p>
        </p:txBody>
      </p:sp>
      <p:sp>
        <p:nvSpPr>
          <p:cNvPr id="15" name="Shape 11"/>
          <p:cNvSpPr/>
          <p:nvPr/>
        </p:nvSpPr>
        <p:spPr>
          <a:xfrm>
            <a:off x="8275320" y="1783080"/>
            <a:ext cx="457200" cy="457200"/>
          </a:xfrm>
          <a:prstGeom prst="ellipse">
            <a:avLst/>
          </a:prstGeom>
          <a:solidFill>
            <a:srgbClr val="FFFFFF"/>
          </a:solidFill>
          <a:ln w="12700">
            <a:solidFill>
              <a:srgbClr val="FFFFFF"/>
            </a:solidFill>
            <a:prstDash val="solid"/>
          </a:ln>
        </p:spPr>
        <p:txBody>
          <a:bodyPr/>
          <a:lstStyle/>
          <a:p>
            <a:endParaRPr lang="en-NZ"/>
          </a:p>
        </p:txBody>
      </p:sp>
      <p:pic>
        <p:nvPicPr>
          <p:cNvPr id="16" name="Image 2" descr="preencoded.png"/>
          <p:cNvPicPr>
            <a:picLocks noChangeAspect="1"/>
          </p:cNvPicPr>
          <p:nvPr/>
        </p:nvPicPr>
        <p:blipFill>
          <a:blip r:embed="rId3"/>
          <a:stretch>
            <a:fillRect/>
          </a:stretch>
        </p:blipFill>
        <p:spPr>
          <a:xfrm>
            <a:off x="8375904" y="1883664"/>
            <a:ext cx="256032" cy="256032"/>
          </a:xfrm>
          <a:prstGeom prst="rect">
            <a:avLst/>
          </a:prstGeom>
        </p:spPr>
      </p:pic>
      <p:sp>
        <p:nvSpPr>
          <p:cNvPr id="17" name="Text 12"/>
          <p:cNvSpPr txBox="1"/>
          <p:nvPr/>
        </p:nvSpPr>
        <p:spPr>
          <a:xfrm>
            <a:off x="8869680" y="1755648"/>
            <a:ext cx="2651760" cy="502920"/>
          </a:xfrm>
          <a:prstGeom prst="rect">
            <a:avLst/>
          </a:prstGeom>
          <a:noFill/>
          <a:ln/>
        </p:spPr>
        <p:txBody>
          <a:bodyPr wrap="square" lIns="0" tIns="0" rIns="0" bIns="0" rtlCol="0" anchor="ctr"/>
          <a:lstStyle/>
          <a:p>
            <a:pPr marL="0" indent="0">
              <a:buNone/>
            </a:pPr>
            <a:r>
              <a:rPr lang="en-US" sz="1500" b="1" dirty="0">
                <a:solidFill>
                  <a:srgbClr val="C55A11"/>
                </a:solidFill>
                <a:latin typeface="Calibri" pitchFamily="34" charset="0"/>
                <a:ea typeface="Calibri" pitchFamily="34" charset="-122"/>
                <a:cs typeface="Calibri" pitchFamily="34" charset="-120"/>
              </a:rPr>
              <a:t>Patient data and privacy</a:t>
            </a:r>
            <a:endParaRPr lang="en-US" sz="1500" dirty="0"/>
          </a:p>
        </p:txBody>
      </p:sp>
      <p:sp>
        <p:nvSpPr>
          <p:cNvPr id="18" name="Text 13"/>
          <p:cNvSpPr txBox="1"/>
          <p:nvPr/>
        </p:nvSpPr>
        <p:spPr>
          <a:xfrm>
            <a:off x="8275320" y="2423160"/>
            <a:ext cx="3154680" cy="114300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REDCap holds identifiable data with NHI. Confirm HealthLake governance covers new sources; use de-identified data until sign-off.</a:t>
            </a:r>
            <a:endParaRPr lang="en-US" sz="1250" dirty="0"/>
          </a:p>
        </p:txBody>
      </p:sp>
      <p:sp>
        <p:nvSpPr>
          <p:cNvPr id="19" name="Shape 14"/>
          <p:cNvSpPr/>
          <p:nvPr/>
        </p:nvSpPr>
        <p:spPr>
          <a:xfrm>
            <a:off x="457200" y="3886200"/>
            <a:ext cx="3611880" cy="2103120"/>
          </a:xfrm>
          <a:prstGeom prst="roundRect">
            <a:avLst>
              <a:gd name="adj" fmla="val 3478"/>
            </a:avLst>
          </a:prstGeom>
          <a:solidFill>
            <a:srgbClr val="F3F4F6"/>
          </a:solidFill>
          <a:ln w="12700">
            <a:solidFill>
              <a:srgbClr val="F3F4F6"/>
            </a:solidFill>
            <a:prstDash val="solid"/>
          </a:ln>
        </p:spPr>
        <p:txBody>
          <a:bodyPr/>
          <a:lstStyle/>
          <a:p>
            <a:endParaRPr lang="en-NZ"/>
          </a:p>
        </p:txBody>
      </p:sp>
      <p:sp>
        <p:nvSpPr>
          <p:cNvPr id="20" name="Shape 15"/>
          <p:cNvSpPr/>
          <p:nvPr/>
        </p:nvSpPr>
        <p:spPr>
          <a:xfrm>
            <a:off x="685800" y="4114800"/>
            <a:ext cx="457200" cy="457200"/>
          </a:xfrm>
          <a:prstGeom prst="ellipse">
            <a:avLst/>
          </a:prstGeom>
          <a:solidFill>
            <a:srgbClr val="FFFFFF"/>
          </a:solidFill>
          <a:ln w="12700">
            <a:solidFill>
              <a:srgbClr val="FFFFFF"/>
            </a:solidFill>
            <a:prstDash val="solid"/>
          </a:ln>
        </p:spPr>
        <p:txBody>
          <a:bodyPr/>
          <a:lstStyle/>
          <a:p>
            <a:endParaRPr lang="en-NZ"/>
          </a:p>
        </p:txBody>
      </p:sp>
      <p:pic>
        <p:nvPicPr>
          <p:cNvPr id="21" name="Image 3" descr="preencoded.png"/>
          <p:cNvPicPr>
            <a:picLocks noChangeAspect="1"/>
          </p:cNvPicPr>
          <p:nvPr/>
        </p:nvPicPr>
        <p:blipFill>
          <a:blip r:embed="rId3"/>
          <a:stretch>
            <a:fillRect/>
          </a:stretch>
        </p:blipFill>
        <p:spPr>
          <a:xfrm>
            <a:off x="786384" y="4215384"/>
            <a:ext cx="256032" cy="256032"/>
          </a:xfrm>
          <a:prstGeom prst="rect">
            <a:avLst/>
          </a:prstGeom>
        </p:spPr>
      </p:pic>
      <p:sp>
        <p:nvSpPr>
          <p:cNvPr id="22" name="Text 16"/>
          <p:cNvSpPr txBox="1"/>
          <p:nvPr/>
        </p:nvSpPr>
        <p:spPr>
          <a:xfrm>
            <a:off x="1280160" y="4087368"/>
            <a:ext cx="2651760" cy="502920"/>
          </a:xfrm>
          <a:prstGeom prst="rect">
            <a:avLst/>
          </a:prstGeom>
          <a:noFill/>
          <a:ln/>
        </p:spPr>
        <p:txBody>
          <a:bodyPr wrap="square" lIns="0" tIns="0" rIns="0" bIns="0" rtlCol="0" anchor="ctr"/>
          <a:lstStyle/>
          <a:p>
            <a:pPr marL="0" indent="0">
              <a:buNone/>
            </a:pPr>
            <a:r>
              <a:rPr lang="en-US" sz="1500" b="1" dirty="0">
                <a:solidFill>
                  <a:srgbClr val="C55A11"/>
                </a:solidFill>
                <a:latin typeface="Calibri" pitchFamily="34" charset="0"/>
                <a:ea typeface="Calibri" pitchFamily="34" charset="-122"/>
                <a:cs typeface="Calibri" pitchFamily="34" charset="-120"/>
              </a:rPr>
              <a:t>Clinical concept agreement</a:t>
            </a:r>
            <a:endParaRPr lang="en-US" sz="1500" dirty="0"/>
          </a:p>
        </p:txBody>
      </p:sp>
      <p:sp>
        <p:nvSpPr>
          <p:cNvPr id="23" name="Text 17"/>
          <p:cNvSpPr txBox="1"/>
          <p:nvPr/>
        </p:nvSpPr>
        <p:spPr>
          <a:xfrm>
            <a:off x="685800" y="4754880"/>
            <a:ext cx="3154680" cy="114300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Critical path. Choose engaged owners, broker access in week one, run in parallel.</a:t>
            </a:r>
            <a:endParaRPr lang="en-US" sz="1250" dirty="0"/>
          </a:p>
        </p:txBody>
      </p:sp>
      <p:sp>
        <p:nvSpPr>
          <p:cNvPr id="24" name="Shape 18"/>
          <p:cNvSpPr/>
          <p:nvPr/>
        </p:nvSpPr>
        <p:spPr>
          <a:xfrm>
            <a:off x="4251960" y="3886200"/>
            <a:ext cx="3611880" cy="2103120"/>
          </a:xfrm>
          <a:prstGeom prst="roundRect">
            <a:avLst>
              <a:gd name="adj" fmla="val 3478"/>
            </a:avLst>
          </a:prstGeom>
          <a:solidFill>
            <a:srgbClr val="F3F4F6"/>
          </a:solidFill>
          <a:ln w="12700">
            <a:solidFill>
              <a:srgbClr val="F3F4F6"/>
            </a:solidFill>
            <a:prstDash val="solid"/>
          </a:ln>
        </p:spPr>
        <p:txBody>
          <a:bodyPr/>
          <a:lstStyle/>
          <a:p>
            <a:endParaRPr lang="en-NZ"/>
          </a:p>
        </p:txBody>
      </p:sp>
      <p:sp>
        <p:nvSpPr>
          <p:cNvPr id="25" name="Shape 19"/>
          <p:cNvSpPr/>
          <p:nvPr/>
        </p:nvSpPr>
        <p:spPr>
          <a:xfrm>
            <a:off x="4480560" y="4114800"/>
            <a:ext cx="457200" cy="457200"/>
          </a:xfrm>
          <a:prstGeom prst="ellipse">
            <a:avLst/>
          </a:prstGeom>
          <a:solidFill>
            <a:srgbClr val="FFFFFF"/>
          </a:solidFill>
          <a:ln w="12700">
            <a:solidFill>
              <a:srgbClr val="FFFFFF"/>
            </a:solidFill>
            <a:prstDash val="solid"/>
          </a:ln>
        </p:spPr>
        <p:txBody>
          <a:bodyPr/>
          <a:lstStyle/>
          <a:p>
            <a:endParaRPr lang="en-NZ"/>
          </a:p>
        </p:txBody>
      </p:sp>
      <p:pic>
        <p:nvPicPr>
          <p:cNvPr id="26" name="Image 4" descr="preencoded.png"/>
          <p:cNvPicPr>
            <a:picLocks noChangeAspect="1"/>
          </p:cNvPicPr>
          <p:nvPr/>
        </p:nvPicPr>
        <p:blipFill>
          <a:blip r:embed="rId3"/>
          <a:stretch>
            <a:fillRect/>
          </a:stretch>
        </p:blipFill>
        <p:spPr>
          <a:xfrm>
            <a:off x="4581144" y="4215384"/>
            <a:ext cx="256032" cy="256032"/>
          </a:xfrm>
          <a:prstGeom prst="rect">
            <a:avLst/>
          </a:prstGeom>
        </p:spPr>
      </p:pic>
      <p:sp>
        <p:nvSpPr>
          <p:cNvPr id="27" name="Text 20"/>
          <p:cNvSpPr txBox="1"/>
          <p:nvPr/>
        </p:nvSpPr>
        <p:spPr>
          <a:xfrm>
            <a:off x="5074920" y="4087368"/>
            <a:ext cx="2651760" cy="502920"/>
          </a:xfrm>
          <a:prstGeom prst="rect">
            <a:avLst/>
          </a:prstGeom>
          <a:noFill/>
          <a:ln/>
        </p:spPr>
        <p:txBody>
          <a:bodyPr wrap="square" lIns="0" tIns="0" rIns="0" bIns="0" rtlCol="0" anchor="ctr"/>
          <a:lstStyle/>
          <a:p>
            <a:pPr marL="0" indent="0">
              <a:buNone/>
            </a:pPr>
            <a:r>
              <a:rPr lang="en-US" sz="1500" b="1" dirty="0">
                <a:solidFill>
                  <a:srgbClr val="C55A11"/>
                </a:solidFill>
                <a:latin typeface="Calibri" pitchFamily="34" charset="0"/>
                <a:ea typeface="Calibri" pitchFamily="34" charset="-122"/>
                <a:cs typeface="Calibri" pitchFamily="34" charset="-120"/>
              </a:rPr>
              <a:t>Single champions</a:t>
            </a:r>
            <a:endParaRPr lang="en-US" sz="1500" dirty="0"/>
          </a:p>
        </p:txBody>
      </p:sp>
      <p:sp>
        <p:nvSpPr>
          <p:cNvPr id="28" name="Text 21"/>
          <p:cNvSpPr txBox="1"/>
          <p:nvPr/>
        </p:nvSpPr>
        <p:spPr>
          <a:xfrm>
            <a:off x="4480560" y="4754880"/>
            <a:ext cx="3154680" cy="114300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Eddie and Heath carry this. Build Chris Watts and REDCap user group leads as secondary relationships; keep Ken informed.</a:t>
            </a:r>
            <a:endParaRPr lang="en-US" sz="1250" dirty="0"/>
          </a:p>
        </p:txBody>
      </p:sp>
      <p:sp>
        <p:nvSpPr>
          <p:cNvPr id="29" name="Shape 22"/>
          <p:cNvSpPr/>
          <p:nvPr/>
        </p:nvSpPr>
        <p:spPr>
          <a:xfrm>
            <a:off x="8046720" y="3886200"/>
            <a:ext cx="3611880" cy="2103120"/>
          </a:xfrm>
          <a:prstGeom prst="roundRect">
            <a:avLst>
              <a:gd name="adj" fmla="val 3478"/>
            </a:avLst>
          </a:prstGeom>
          <a:solidFill>
            <a:srgbClr val="F3F4F6"/>
          </a:solidFill>
          <a:ln w="12700">
            <a:solidFill>
              <a:srgbClr val="F3F4F6"/>
            </a:solidFill>
            <a:prstDash val="solid"/>
          </a:ln>
        </p:spPr>
        <p:txBody>
          <a:bodyPr/>
          <a:lstStyle/>
          <a:p>
            <a:endParaRPr lang="en-NZ"/>
          </a:p>
        </p:txBody>
      </p:sp>
      <p:sp>
        <p:nvSpPr>
          <p:cNvPr id="30" name="Shape 23"/>
          <p:cNvSpPr/>
          <p:nvPr/>
        </p:nvSpPr>
        <p:spPr>
          <a:xfrm>
            <a:off x="8275320" y="4114800"/>
            <a:ext cx="457200" cy="457200"/>
          </a:xfrm>
          <a:prstGeom prst="ellipse">
            <a:avLst/>
          </a:prstGeom>
          <a:solidFill>
            <a:srgbClr val="FFFFFF"/>
          </a:solidFill>
          <a:ln w="12700">
            <a:solidFill>
              <a:srgbClr val="FFFFFF"/>
            </a:solidFill>
            <a:prstDash val="solid"/>
          </a:ln>
        </p:spPr>
        <p:txBody>
          <a:bodyPr/>
          <a:lstStyle/>
          <a:p>
            <a:endParaRPr lang="en-NZ"/>
          </a:p>
        </p:txBody>
      </p:sp>
      <p:pic>
        <p:nvPicPr>
          <p:cNvPr id="31" name="Image 5" descr="preencoded.png"/>
          <p:cNvPicPr>
            <a:picLocks noChangeAspect="1"/>
          </p:cNvPicPr>
          <p:nvPr/>
        </p:nvPicPr>
        <p:blipFill>
          <a:blip r:embed="rId3"/>
          <a:stretch>
            <a:fillRect/>
          </a:stretch>
        </p:blipFill>
        <p:spPr>
          <a:xfrm>
            <a:off x="8375904" y="4215384"/>
            <a:ext cx="256032" cy="256032"/>
          </a:xfrm>
          <a:prstGeom prst="rect">
            <a:avLst/>
          </a:prstGeom>
        </p:spPr>
      </p:pic>
      <p:sp>
        <p:nvSpPr>
          <p:cNvPr id="32" name="Text 24"/>
          <p:cNvSpPr txBox="1"/>
          <p:nvPr/>
        </p:nvSpPr>
        <p:spPr>
          <a:xfrm>
            <a:off x="8869680" y="4087368"/>
            <a:ext cx="2651760" cy="502920"/>
          </a:xfrm>
          <a:prstGeom prst="rect">
            <a:avLst/>
          </a:prstGeom>
          <a:noFill/>
          <a:ln/>
        </p:spPr>
        <p:txBody>
          <a:bodyPr wrap="square" lIns="0" tIns="0" rIns="0" bIns="0" rtlCol="0" anchor="ctr"/>
          <a:lstStyle/>
          <a:p>
            <a:pPr marL="0" indent="0">
              <a:buNone/>
            </a:pPr>
            <a:r>
              <a:rPr lang="en-US" sz="1500" b="1" dirty="0">
                <a:solidFill>
                  <a:srgbClr val="C55A11"/>
                </a:solidFill>
                <a:latin typeface="Calibri" pitchFamily="34" charset="0"/>
                <a:ea typeface="Calibri" pitchFamily="34" charset="-122"/>
                <a:cs typeface="Calibri" pitchFamily="34" charset="-120"/>
              </a:rPr>
              <a:t>No code from AWS</a:t>
            </a:r>
            <a:endParaRPr lang="en-US" sz="1500" dirty="0"/>
          </a:p>
        </p:txBody>
      </p:sp>
      <p:sp>
        <p:nvSpPr>
          <p:cNvPr id="33" name="Text 25"/>
          <p:cNvSpPr txBox="1"/>
          <p:nvPr/>
        </p:nvSpPr>
        <p:spPr>
          <a:xfrm>
            <a:off x="8275320" y="4754880"/>
            <a:ext cx="3154680" cy="114300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Pattern and spec files only. Insist on the deck and content before the Heath meeting.</a:t>
            </a:r>
            <a:endParaRPr lang="en-US" sz="1250" dirty="0"/>
          </a:p>
        </p:txBody>
      </p:sp>
      <p:sp>
        <p:nvSpPr>
          <p:cNvPr id="34" name="Text 26"/>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35" name="Text 27"/>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65760"/>
            <a:ext cx="11247120" cy="640080"/>
          </a:xfrm>
          <a:prstGeom prst="rect">
            <a:avLst/>
          </a:prstGeom>
          <a:noFill/>
          <a:ln/>
        </p:spPr>
        <p:txBody>
          <a:bodyPr wrap="square" lIns="0" tIns="0" rIns="0" bIns="0" rtlCol="0" anchor="ctr"/>
          <a:lstStyle/>
          <a:p>
            <a:pPr marL="0" indent="0">
              <a:buNone/>
            </a:pPr>
            <a:r>
              <a:rPr lang="en-US" sz="3000" b="1" dirty="0">
                <a:solidFill>
                  <a:srgbClr val="1F4E79"/>
                </a:solidFill>
                <a:latin typeface="Calibri" pitchFamily="34" charset="0"/>
                <a:ea typeface="Calibri" pitchFamily="34" charset="-122"/>
                <a:cs typeface="Calibri" pitchFamily="34" charset="-120"/>
              </a:rPr>
              <a:t>Next steps</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Move at the tempo Eddie set. If it is Monday, it is Monday.</a:t>
            </a:r>
            <a:endParaRPr lang="en-US" sz="1400" dirty="0"/>
          </a:p>
        </p:txBody>
      </p:sp>
      <p:sp>
        <p:nvSpPr>
          <p:cNvPr id="4" name="Shape 2"/>
          <p:cNvSpPr/>
          <p:nvPr/>
        </p:nvSpPr>
        <p:spPr>
          <a:xfrm>
            <a:off x="1554480" y="1600200"/>
            <a:ext cx="457200" cy="457200"/>
          </a:xfrm>
          <a:prstGeom prst="ellipse">
            <a:avLst/>
          </a:prstGeom>
          <a:solidFill>
            <a:srgbClr val="1F4E79"/>
          </a:solidFill>
          <a:ln w="25400">
            <a:solidFill>
              <a:srgbClr val="FFFFFF"/>
            </a:solidFill>
            <a:prstDash val="solid"/>
          </a:ln>
        </p:spPr>
        <p:txBody>
          <a:bodyPr/>
          <a:lstStyle/>
          <a:p>
            <a:endParaRPr lang="en-NZ"/>
          </a:p>
        </p:txBody>
      </p:sp>
      <p:sp>
        <p:nvSpPr>
          <p:cNvPr id="5" name="Shape 3"/>
          <p:cNvSpPr/>
          <p:nvPr/>
        </p:nvSpPr>
        <p:spPr>
          <a:xfrm>
            <a:off x="2011680" y="1828800"/>
            <a:ext cx="2377440" cy="0"/>
          </a:xfrm>
          <a:prstGeom prst="line">
            <a:avLst/>
          </a:prstGeom>
          <a:noFill/>
          <a:ln w="25400">
            <a:solidFill>
              <a:srgbClr val="1F4E79"/>
            </a:solidFill>
            <a:prstDash val="solid"/>
          </a:ln>
        </p:spPr>
        <p:txBody>
          <a:bodyPr/>
          <a:lstStyle/>
          <a:p>
            <a:endParaRPr lang="en-NZ"/>
          </a:p>
        </p:txBody>
      </p:sp>
      <p:sp>
        <p:nvSpPr>
          <p:cNvPr id="6" name="Text 4"/>
          <p:cNvSpPr txBox="1"/>
          <p:nvPr/>
        </p:nvSpPr>
        <p:spPr>
          <a:xfrm>
            <a:off x="457200" y="2194560"/>
            <a:ext cx="2651760"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Calibri" pitchFamily="34" charset="0"/>
                <a:ea typeface="Calibri" pitchFamily="34" charset="-122"/>
                <a:cs typeface="Calibri" pitchFamily="34" charset="-120"/>
              </a:rPr>
              <a:t>This week</a:t>
            </a:r>
            <a:endParaRPr lang="en-US" sz="1700" dirty="0"/>
          </a:p>
        </p:txBody>
      </p:sp>
      <p:sp>
        <p:nvSpPr>
          <p:cNvPr id="7" name="Shape 5"/>
          <p:cNvSpPr/>
          <p:nvPr/>
        </p:nvSpPr>
        <p:spPr>
          <a:xfrm>
            <a:off x="457200" y="2697480"/>
            <a:ext cx="2651760" cy="3291840"/>
          </a:xfrm>
          <a:prstGeom prst="roundRect">
            <a:avLst>
              <a:gd name="adj" fmla="val 2759"/>
            </a:avLst>
          </a:prstGeom>
          <a:solidFill>
            <a:srgbClr val="EAF1F8"/>
          </a:solidFill>
          <a:ln w="12700">
            <a:solidFill>
              <a:srgbClr val="EAF1F8"/>
            </a:solidFill>
            <a:prstDash val="solid"/>
          </a:ln>
        </p:spPr>
        <p:txBody>
          <a:bodyPr/>
          <a:lstStyle/>
          <a:p>
            <a:endParaRPr lang="en-NZ"/>
          </a:p>
        </p:txBody>
      </p:sp>
      <p:sp>
        <p:nvSpPr>
          <p:cNvPr id="8" name="Text 6"/>
          <p:cNvSpPr txBox="1"/>
          <p:nvPr/>
        </p:nvSpPr>
        <p:spPr>
          <a:xfrm>
            <a:off x="640080" y="2880360"/>
            <a:ext cx="233172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Deck walk-through with Eddie and Koan seniors</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Eddie shares sanitised deck, spec files, content</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Identify five candidate REDCap registries with Heath</a:t>
            </a:r>
            <a:endParaRPr lang="en-US" sz="1300" dirty="0"/>
          </a:p>
        </p:txBody>
      </p:sp>
      <p:sp>
        <p:nvSpPr>
          <p:cNvPr id="9" name="Shape 7"/>
          <p:cNvSpPr/>
          <p:nvPr/>
        </p:nvSpPr>
        <p:spPr>
          <a:xfrm>
            <a:off x="4389120" y="1600200"/>
            <a:ext cx="457200" cy="457200"/>
          </a:xfrm>
          <a:prstGeom prst="ellipse">
            <a:avLst/>
          </a:prstGeom>
          <a:solidFill>
            <a:srgbClr val="1F4E79"/>
          </a:solidFill>
          <a:ln w="25400">
            <a:solidFill>
              <a:srgbClr val="FFFFFF"/>
            </a:solidFill>
            <a:prstDash val="solid"/>
          </a:ln>
        </p:spPr>
        <p:txBody>
          <a:bodyPr/>
          <a:lstStyle/>
          <a:p>
            <a:endParaRPr lang="en-NZ"/>
          </a:p>
        </p:txBody>
      </p:sp>
      <p:sp>
        <p:nvSpPr>
          <p:cNvPr id="10" name="Shape 8"/>
          <p:cNvSpPr/>
          <p:nvPr/>
        </p:nvSpPr>
        <p:spPr>
          <a:xfrm>
            <a:off x="4846320" y="1828800"/>
            <a:ext cx="2377440" cy="0"/>
          </a:xfrm>
          <a:prstGeom prst="line">
            <a:avLst/>
          </a:prstGeom>
          <a:noFill/>
          <a:ln w="25400">
            <a:solidFill>
              <a:srgbClr val="1F4E79"/>
            </a:solidFill>
            <a:prstDash val="solid"/>
          </a:ln>
        </p:spPr>
        <p:txBody>
          <a:bodyPr/>
          <a:lstStyle/>
          <a:p>
            <a:endParaRPr lang="en-NZ"/>
          </a:p>
        </p:txBody>
      </p:sp>
      <p:sp>
        <p:nvSpPr>
          <p:cNvPr id="11" name="Text 9"/>
          <p:cNvSpPr txBox="1"/>
          <p:nvPr/>
        </p:nvSpPr>
        <p:spPr>
          <a:xfrm>
            <a:off x="3291840" y="2194560"/>
            <a:ext cx="2651760"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Calibri" pitchFamily="34" charset="0"/>
                <a:ea typeface="Calibri" pitchFamily="34" charset="-122"/>
                <a:cs typeface="Calibri" pitchFamily="34" charset="-120"/>
              </a:rPr>
              <a:t>Early October</a:t>
            </a:r>
            <a:endParaRPr lang="en-US" sz="1700" dirty="0"/>
          </a:p>
        </p:txBody>
      </p:sp>
      <p:sp>
        <p:nvSpPr>
          <p:cNvPr id="12" name="Shape 10"/>
          <p:cNvSpPr/>
          <p:nvPr/>
        </p:nvSpPr>
        <p:spPr>
          <a:xfrm>
            <a:off x="3291840" y="2697480"/>
            <a:ext cx="2651760" cy="3291840"/>
          </a:xfrm>
          <a:prstGeom prst="roundRect">
            <a:avLst>
              <a:gd name="adj" fmla="val 2759"/>
            </a:avLst>
          </a:prstGeom>
          <a:solidFill>
            <a:srgbClr val="EAF1F8"/>
          </a:solidFill>
          <a:ln w="12700">
            <a:solidFill>
              <a:srgbClr val="EAF1F8"/>
            </a:solidFill>
            <a:prstDash val="solid"/>
          </a:ln>
        </p:spPr>
        <p:txBody>
          <a:bodyPr/>
          <a:lstStyle/>
          <a:p>
            <a:endParaRPr lang="en-NZ"/>
          </a:p>
        </p:txBody>
      </p:sp>
      <p:sp>
        <p:nvSpPr>
          <p:cNvPr id="13" name="Text 11"/>
          <p:cNvSpPr txBox="1"/>
          <p:nvPr/>
        </p:nvSpPr>
        <p:spPr>
          <a:xfrm>
            <a:off x="3474720" y="2880360"/>
            <a:ext cx="233172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Meeting with Heath: sponsorship, registries, definition of done, contract vehicle</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Raise probity and privacy approach</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Scope AWS services and ARR model with Craig</a:t>
            </a:r>
            <a:endParaRPr lang="en-US" sz="1300" dirty="0"/>
          </a:p>
        </p:txBody>
      </p:sp>
      <p:sp>
        <p:nvSpPr>
          <p:cNvPr id="14" name="Shape 12"/>
          <p:cNvSpPr/>
          <p:nvPr/>
        </p:nvSpPr>
        <p:spPr>
          <a:xfrm>
            <a:off x="7223760" y="1600200"/>
            <a:ext cx="457200" cy="457200"/>
          </a:xfrm>
          <a:prstGeom prst="ellipse">
            <a:avLst/>
          </a:prstGeom>
          <a:solidFill>
            <a:srgbClr val="1F4E79"/>
          </a:solidFill>
          <a:ln w="25400">
            <a:solidFill>
              <a:srgbClr val="FFFFFF"/>
            </a:solidFill>
            <a:prstDash val="solid"/>
          </a:ln>
        </p:spPr>
        <p:txBody>
          <a:bodyPr/>
          <a:lstStyle/>
          <a:p>
            <a:endParaRPr lang="en-NZ"/>
          </a:p>
        </p:txBody>
      </p:sp>
      <p:sp>
        <p:nvSpPr>
          <p:cNvPr id="15" name="Shape 13"/>
          <p:cNvSpPr/>
          <p:nvPr/>
        </p:nvSpPr>
        <p:spPr>
          <a:xfrm>
            <a:off x="7680960" y="1828800"/>
            <a:ext cx="2377440" cy="0"/>
          </a:xfrm>
          <a:prstGeom prst="line">
            <a:avLst/>
          </a:prstGeom>
          <a:noFill/>
          <a:ln w="25400">
            <a:solidFill>
              <a:srgbClr val="1F4E79"/>
            </a:solidFill>
            <a:prstDash val="solid"/>
          </a:ln>
        </p:spPr>
        <p:txBody>
          <a:bodyPr/>
          <a:lstStyle/>
          <a:p>
            <a:endParaRPr lang="en-NZ"/>
          </a:p>
        </p:txBody>
      </p:sp>
      <p:sp>
        <p:nvSpPr>
          <p:cNvPr id="16" name="Text 14"/>
          <p:cNvSpPr txBox="1"/>
          <p:nvPr/>
        </p:nvSpPr>
        <p:spPr>
          <a:xfrm>
            <a:off x="6126480" y="2194560"/>
            <a:ext cx="2651760"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Calibri" pitchFamily="34" charset="0"/>
                <a:ea typeface="Calibri" pitchFamily="34" charset="-122"/>
                <a:cs typeface="Calibri" pitchFamily="34" charset="-120"/>
              </a:rPr>
              <a:t>Mid October</a:t>
            </a:r>
            <a:endParaRPr lang="en-US" sz="1700" dirty="0"/>
          </a:p>
        </p:txBody>
      </p:sp>
      <p:sp>
        <p:nvSpPr>
          <p:cNvPr id="17" name="Shape 15"/>
          <p:cNvSpPr/>
          <p:nvPr/>
        </p:nvSpPr>
        <p:spPr>
          <a:xfrm>
            <a:off x="6126480" y="2697480"/>
            <a:ext cx="2651760" cy="3291840"/>
          </a:xfrm>
          <a:prstGeom prst="roundRect">
            <a:avLst>
              <a:gd name="adj" fmla="val 2759"/>
            </a:avLst>
          </a:prstGeom>
          <a:solidFill>
            <a:srgbClr val="EAF1F8"/>
          </a:solidFill>
          <a:ln w="12700">
            <a:solidFill>
              <a:srgbClr val="EAF1F8"/>
            </a:solidFill>
            <a:prstDash val="solid"/>
          </a:ln>
        </p:spPr>
        <p:txBody>
          <a:bodyPr/>
          <a:lstStyle/>
          <a:p>
            <a:endParaRPr lang="en-NZ"/>
          </a:p>
        </p:txBody>
      </p:sp>
      <p:sp>
        <p:nvSpPr>
          <p:cNvPr id="18" name="Text 16"/>
          <p:cNvSpPr txBox="1"/>
          <p:nvPr/>
        </p:nvSpPr>
        <p:spPr>
          <a:xfrm>
            <a:off x="6309360" y="2880360"/>
            <a:ext cx="233172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Draft SoW under Panel MSA</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Submit POA fund request</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Mobilise discovery with first clinical teams</a:t>
            </a:r>
            <a:endParaRPr lang="en-US" sz="1300" dirty="0"/>
          </a:p>
        </p:txBody>
      </p:sp>
      <p:sp>
        <p:nvSpPr>
          <p:cNvPr id="19" name="Shape 17"/>
          <p:cNvSpPr/>
          <p:nvPr/>
        </p:nvSpPr>
        <p:spPr>
          <a:xfrm>
            <a:off x="10058400" y="1600200"/>
            <a:ext cx="457200" cy="457200"/>
          </a:xfrm>
          <a:prstGeom prst="ellipse">
            <a:avLst/>
          </a:prstGeom>
          <a:solidFill>
            <a:srgbClr val="C55A11"/>
          </a:solidFill>
          <a:ln w="25400">
            <a:solidFill>
              <a:srgbClr val="FFFFFF"/>
            </a:solidFill>
            <a:prstDash val="solid"/>
          </a:ln>
        </p:spPr>
        <p:txBody>
          <a:bodyPr/>
          <a:lstStyle/>
          <a:p>
            <a:endParaRPr lang="en-NZ"/>
          </a:p>
        </p:txBody>
      </p:sp>
      <p:sp>
        <p:nvSpPr>
          <p:cNvPr id="20" name="Text 18"/>
          <p:cNvSpPr txBox="1"/>
          <p:nvPr/>
        </p:nvSpPr>
        <p:spPr>
          <a:xfrm>
            <a:off x="8961120" y="2194560"/>
            <a:ext cx="2651760" cy="411480"/>
          </a:xfrm>
          <a:prstGeom prst="rect">
            <a:avLst/>
          </a:prstGeom>
          <a:noFill/>
          <a:ln/>
        </p:spPr>
        <p:txBody>
          <a:bodyPr wrap="square" lIns="0" tIns="0" rIns="0" bIns="0" rtlCol="0" anchor="ctr"/>
          <a:lstStyle/>
          <a:p>
            <a:pPr marL="0" indent="0" algn="ctr">
              <a:buNone/>
            </a:pPr>
            <a:r>
              <a:rPr lang="en-US" sz="1700" b="1" dirty="0">
                <a:solidFill>
                  <a:srgbClr val="C55A11"/>
                </a:solidFill>
                <a:latin typeface="Calibri" pitchFamily="34" charset="0"/>
                <a:ea typeface="Calibri" pitchFamily="34" charset="-122"/>
                <a:cs typeface="Calibri" pitchFamily="34" charset="-120"/>
              </a:rPr>
              <a:t>Before Christmas</a:t>
            </a:r>
            <a:endParaRPr lang="en-US" sz="1700" dirty="0"/>
          </a:p>
        </p:txBody>
      </p:sp>
      <p:sp>
        <p:nvSpPr>
          <p:cNvPr id="21" name="Shape 19"/>
          <p:cNvSpPr/>
          <p:nvPr/>
        </p:nvSpPr>
        <p:spPr>
          <a:xfrm>
            <a:off x="8961120" y="2697480"/>
            <a:ext cx="2651760" cy="3291840"/>
          </a:xfrm>
          <a:prstGeom prst="roundRect">
            <a:avLst>
              <a:gd name="adj" fmla="val 2759"/>
            </a:avLst>
          </a:prstGeom>
          <a:solidFill>
            <a:srgbClr val="EAF1F8"/>
          </a:solidFill>
          <a:ln w="12700">
            <a:solidFill>
              <a:srgbClr val="EAF1F8"/>
            </a:solidFill>
            <a:prstDash val="solid"/>
          </a:ln>
        </p:spPr>
        <p:txBody>
          <a:bodyPr/>
          <a:lstStyle/>
          <a:p>
            <a:endParaRPr lang="en-NZ"/>
          </a:p>
        </p:txBody>
      </p:sp>
      <p:sp>
        <p:nvSpPr>
          <p:cNvPr id="22" name="Text 20"/>
          <p:cNvSpPr txBox="1"/>
          <p:nvPr/>
        </p:nvSpPr>
        <p:spPr>
          <a:xfrm>
            <a:off x="9144000" y="2880360"/>
            <a:ext cx="233172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Registry one live on FLOW</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Four registries mapped and loaded</a:t>
            </a:r>
            <a:endParaRPr lang="en-US" sz="1300" dirty="0"/>
          </a:p>
          <a:p>
            <a:pPr marL="342900" indent="-342900">
              <a:spcAft>
                <a:spcPts val="1000"/>
              </a:spcAft>
              <a:buSzPct val="100000"/>
              <a:buChar char="•"/>
            </a:pPr>
            <a:r>
              <a:rPr lang="en-US" sz="1300" dirty="0">
                <a:solidFill>
                  <a:srgbClr val="262626"/>
                </a:solidFill>
                <a:latin typeface="Calibri" pitchFamily="34" charset="0"/>
                <a:ea typeface="Calibri" pitchFamily="34" charset="-122"/>
                <a:cs typeface="Calibri" pitchFamily="34" charset="-120"/>
              </a:rPr>
              <a:t>Heath demonstrates the HealthX model works</a:t>
            </a:r>
            <a:endParaRPr lang="en-US" sz="1300" dirty="0"/>
          </a:p>
        </p:txBody>
      </p:sp>
      <p:sp>
        <p:nvSpPr>
          <p:cNvPr id="23" name="Text 21"/>
          <p:cNvSpPr txBox="1"/>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Koan  |  Clinical Registries on HealthLake  |  Draft for discussion, 28 September 2026</a:t>
            </a:r>
            <a:endParaRPr lang="en-US" sz="900" dirty="0"/>
          </a:p>
        </p:txBody>
      </p:sp>
      <p:sp>
        <p:nvSpPr>
          <p:cNvPr id="24" name="Text 22"/>
          <p:cNvSpPr txBox="1"/>
          <p:nvPr/>
        </p:nvSpPr>
        <p:spPr>
          <a:xfrm>
            <a:off x="8503920" y="6446520"/>
            <a:ext cx="3200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Confidential. AWS material shared under NDA.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640080" y="2103120"/>
            <a:ext cx="10515600" cy="82296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Registers are the forgotten half of healthcare.</a:t>
            </a:r>
            <a:endParaRPr lang="en-US" sz="3600" dirty="0"/>
          </a:p>
        </p:txBody>
      </p:sp>
      <p:sp>
        <p:nvSpPr>
          <p:cNvPr id="3" name="Text 1"/>
          <p:cNvSpPr txBox="1"/>
          <p:nvPr/>
        </p:nvSpPr>
        <p:spPr>
          <a:xfrm>
            <a:off x="640080" y="3017520"/>
            <a:ext cx="10515600" cy="1097280"/>
          </a:xfrm>
          <a:prstGeom prst="rect">
            <a:avLst/>
          </a:prstGeom>
          <a:noFill/>
          <a:ln/>
        </p:spPr>
        <p:txBody>
          <a:bodyPr wrap="square" lIns="0" tIns="0" rIns="0" bIns="0" rtlCol="0" anchor="t"/>
          <a:lstStyle/>
          <a:p>
            <a:pPr marL="0" indent="0">
              <a:buNone/>
            </a:pPr>
            <a:r>
              <a:rPr lang="en-US" sz="1800" dirty="0">
                <a:solidFill>
                  <a:srgbClr val="DCE9F5"/>
                </a:solidFill>
                <a:latin typeface="Calibri" pitchFamily="34" charset="0"/>
                <a:ea typeface="Calibri" pitchFamily="34" charset="-122"/>
                <a:cs typeface="Calibri" pitchFamily="34" charset="-120"/>
              </a:rPr>
              <a:t>The data problem is solved by HealthLake. The remaining problem is operational: sit with clinicians, agree the codes, build the register, switch them over. Then do it again every fortnight.</a:t>
            </a:r>
            <a:endParaRPr lang="en-US" sz="1800" dirty="0"/>
          </a:p>
        </p:txBody>
      </p:sp>
      <p:sp>
        <p:nvSpPr>
          <p:cNvPr id="4" name="Text 2"/>
          <p:cNvSpPr txBox="1"/>
          <p:nvPr/>
        </p:nvSpPr>
        <p:spPr>
          <a:xfrm>
            <a:off x="640080" y="5852160"/>
            <a:ext cx="10515600" cy="365760"/>
          </a:xfrm>
          <a:prstGeom prst="rect">
            <a:avLst/>
          </a:prstGeom>
          <a:noFill/>
          <a:ln/>
        </p:spPr>
        <p:txBody>
          <a:bodyPr wrap="square" lIns="0" tIns="0" rIns="0" bIns="0" rtlCol="0" anchor="ctr"/>
          <a:lstStyle/>
          <a:p>
            <a:pPr marL="0" indent="0">
              <a:buNone/>
            </a:pPr>
            <a:r>
              <a:rPr lang="en-US" sz="1400" dirty="0">
                <a:solidFill>
                  <a:srgbClr val="A9C4E0"/>
                </a:solidFill>
                <a:latin typeface="Calibri" pitchFamily="34" charset="0"/>
                <a:ea typeface="Calibri" pitchFamily="34" charset="-122"/>
                <a:cs typeface="Calibri" pitchFamily="34" charset="-120"/>
              </a:rPr>
              <a:t>Koan Limited  |  60 Willis Street, Wellington</a:t>
            </a:r>
            <a:endParaRPr lang="en-US" sz="1400" dirty="0"/>
          </a:p>
        </p:txBody>
      </p:sp>
      <p:sp>
        <p:nvSpPr>
          <p:cNvPr id="5" name="Text 3"/>
          <p:cNvSpPr txBox="1"/>
          <p:nvPr/>
        </p:nvSpPr>
        <p:spPr>
          <a:xfrm>
            <a:off x="10332720" y="457200"/>
            <a:ext cx="1371600" cy="457200"/>
          </a:xfrm>
          <a:prstGeom prst="rect">
            <a:avLst/>
          </a:prstGeom>
          <a:noFill/>
          <a:ln/>
        </p:spPr>
        <p:txBody>
          <a:bodyPr wrap="square" lIns="0" tIns="0" rIns="0" bIns="0" rtlCol="0" anchor="ctr"/>
          <a:lstStyle/>
          <a:p>
            <a:pPr marL="0" indent="0" algn="r">
              <a:buNone/>
            </a:pPr>
            <a:r>
              <a:rPr lang="en-US" sz="2400" b="1" dirty="0">
                <a:solidFill>
                  <a:srgbClr val="FFFFFF"/>
                </a:solidFill>
                <a:latin typeface="Calibri" pitchFamily="34" charset="0"/>
                <a:ea typeface="Calibri" pitchFamily="34" charset="-122"/>
                <a:cs typeface="Calibri" pitchFamily="34" charset="-120"/>
              </a:rPr>
              <a:t>Koan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1877</Words>
  <Application>Microsoft Office PowerPoint</Application>
  <PresentationFormat>Widescreen</PresentationFormat>
  <Paragraphs>183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Registries on Amazon HealthLake</dc:title>
  <dc:subject>PptxGenJS Presentation</dc:subject>
  <dc:creator>Koan Limited</dc:creator>
  <cp:lastModifiedBy>gareth</cp:lastModifiedBy>
  <cp:revision>1</cp:revision>
  <dcterms:created xsi:type="dcterms:W3CDTF">2026-09-27T17:57:13Z</dcterms:created>
  <dcterms:modified xsi:type="dcterms:W3CDTF">2026-09-27T18:18:22Z</dcterms:modified>
</cp:coreProperties>
</file>